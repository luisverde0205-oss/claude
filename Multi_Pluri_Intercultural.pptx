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47d3fc8c-e89d-888c-ebc1-03ff9b07c844}">
          <p14:sldIdLst>
            <p14:sldId id="256"/>
          </p14:sldIdLst>
        </p14:section>
        <p14:section name="Conceptos" id="{da9c90ab-ce7c-ce59-b4e8-eb2b574a04b4}">
          <p14:sldIdLst>
            <p14:sldId id="257"/>
          </p14:sldIdLst>
        </p14:section>
        <p14:section name="Multiculturalidad" id="{7665e8fb-42d5-9fdd-8577-73cf93b9d48c}">
          <p14:sldIdLst>
            <p14:sldId id="258"/>
            <p14:sldId id="259"/>
          </p14:sldIdLst>
        </p14:section>
        <p14:section name="Pluriculturalidad" id="{0dd6fb6f-2ef7-afa2-ce5f-1fd773da77f0}">
          <p14:sldIdLst>
            <p14:sldId id="260"/>
            <p14:sldId id="261"/>
          </p14:sldIdLst>
        </p14:section>
        <p14:section name="Interculturalidad" id="{fb9f079f-c942-8ca4-87f7-2073b23984a1}">
          <p14:sldIdLst>
            <p14:sldId id="262"/>
            <p14:sldId id="263"/>
          </p14:sldIdLst>
        </p14:section>
        <p14:section name="Reflexión: México" id="{de60beaf-9886-7308-527a-b952ece75017}">
          <p14:sldIdLst>
            <p14:sldId id="264"/>
            <p14:sldId id="265"/>
            <p14:sldId id="266"/>
            <p14:sldId id="267"/>
          </p14:sldIdLst>
        </p14:section>
        <p14:section name="Fuentes" id="{6c0aaf4a-14c5-b996-cef5-20df672fc33b}">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Foto de fondo: Mercado de Sonora, Ciudad de México.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Definiciones de trabajo usadas en toda la presentación. Multiculturalidad describe un hecho: hay varias culturas juntas. Pluriculturalidad añade el reconocimiento: la ley y las instituciones aceptan que esas culturas existen y tienen derechos. Interculturalidad es un proyecto: que las culturas se relacionen en condiciones de igualdad, dialoguen y se enriquezcan mutuamente (ver, por ejemplo, Catherine Walsh, 2009).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Toronto es uno de los ejemplos más citados de ciudad multicultural: según el censo canadiense de 2021, cerca de la mitad de la población del área de Toronto nació en otro país. Kensington Market empezó como barrio de inmigrantes judíos de Europa del Este a principios del siglo XX; después llegaron portugueses, caribeños, chinos, latinoamericanos y otros. Hoy cada tienda refleja un origen distinto. Canadá suele describirse como un «mosaico» y no como un «crisol» (melting pot): las culturas no se mezclan en una sola, sino que se colocan una junto a otra.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Carnaval Caribeño (antes llamado Caribana) es una de las fiestas más grandes de Norteamérica. Es un buen ejemplo de multiculturalidad: la comunidad caribeña celebra su identidad y el resto de la ciudad la observa y la disfruta. La crítica que se hace a este modelo es que la convivencia puede quedarse en lo superficial: cada grupo en su barrio, con poco intercambio real. Coexistir no es lo mismo que convivir.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Bolivia es el caso más claro de pluriculturalidad en América Latina. La Constitución Política del Estado de 2009 cambió el nombre oficial del país y reconoce 36 lenguas indígenas como oficiales además del castellano. La Wiphala, bandera cuadriculada de siete colores de los pueblos andinos, aparece junto a la bandera roja, amarilla y verde en edificios públicos. Aquí la diversidad no solo existe (como en la multiculturalidad), sino que el Estado la reconoce y le da derechos.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hace pocas décadas, a las mujeres de pollera se les negaba la entrada a algunos restaurantes o espacios públicos de La Paz. Con el reconocimiento plurinacional ganaron visibilidad: hay cholitas en el Congreso, en noticieros, en la lucha libre (las «cholitas luchadoras») y en la moda. Sin embargo, la pluriculturalidad tiene límites: reconocer muchas culturas no significa que entre ellas haya un diálogo en igualdad; eso es lo que busca la interculturalidad.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Oaxaca es el estado con mayor diversidad indígena de México (zapotecos, mixtecos, mazatecos, mixes, chinantecos y muchos más). En la Guelaguetza, también llamada Lunes del Cerro, cada región presenta sus bailes y al final regala a los asistentes frutas, pan o artesanías: el sentido original es el intercambio recíproco. Es un ejemplo de interculturalidad porque los pueblos se relacionan entre sí y con el público. Como matiz, algunas comunidades critican que la fiesta se haya vuelto muy comercial y turística; el diálogo intercultural siempre corre el riesgo de convertirse en espectáculo.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universidades interculturales surgieron a partir de 2004 por iniciativa de la Coordinación General de Educación Intercultural y Bilingüe. La Universidad Veracruzana Intercultural tiene sedes en zonas indígenas del estado; la de las Altas Montañas, en la región de Zongolica, atiende sobre todo a jóvenes nahuas. Su objetivo no es solo enseñar a estudiantes indígenas, sino formar profesionistas que conecten los conocimientos de sus comunidades con los de la universidad. Por eso es un ejemplo de interculturalidad: hay intercambio en ambas direcciones.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yo fuera extranjero y visitara estos tres lugares, pensaría que estuve en tres países distintos. En Cancún vería un México pensado para el turista: la cultura aparece como decoración (nombres mayas en hoteles, espectáculos folclóricos) y conviven personas de todo el mundo sin mezclarse demasiado con la población local; eso se parece más a la multiculturalidad. En una comunidad rarámuri de la Sierra Tarahumara encontraría un pueblo con lengua, gobierno y costumbres propias, reconocido por la Constitución, pero que vive en condiciones de desigualdad; ahí se ve la pluriculturalidad y también sus límites. La Ciudad de México sería el lugar más difícil de clasificar, porque reúne todo a la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revisar imágenes y notas de estos cuatro lugares se nota que la Ciudad de México no tiene una sola cultura. El Barrio Chino es pequeño (prácticamente una calle), pero sobrevivió a la persecución contra los chinos en los años treinta; hoy es un lugar donde lo chino se vuelve parte de lo mexicano, por ejemplo en el Año Nuevo Chino que celebran miles de capitalinos. La comunidad judía, concentrada en Polanco, mantiene escuelas, sinagogas y comercios propios: es un caso de convivencia más bien multicultural, con identidad muy definida. El Mercado de Sonora es casi lo contrario: ahí las creencias indígenas, católicas, afrocaribeñas y populares se mezclan sin pedir permiso, lo que se acerca a la interculturalidad (aunque también aparece en las noticias por la venta ilegal de animales). El Centro Histórico resume la historia del país: la Catedral se levantó sobre la ciudad azteca y hoy los danzantes concheros bailan frente a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conclusión es que México no cabe en una sola de las tres categorías. Es multicultural porque muchas culturas comparten el territorio, sobre todo en las ciudades, a veces sin tocarse. Es pluricultural porque así lo dice la ley: desde 1992 la Constitución reconoce la composición pluricultural de la nación, y hoy se reconocen 68 lenguas indígenas y a la población afromexicana. Y quiere ser intercultural: existen universidades interculturales, fiestas como la Guelaguetza y espacios cotidianos de mezcla, pero mientras los pueblos indígenas sigan siendo los más pobres del país, el diálogo no será realmente entre iguales.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¿Existe algo como la mexicaneidad? Pienso que sí, pero no como una sola forma de ser. Pensadores como Samuel Ramos u Octavio Paz (El laberinto de la soledad) intentaron describir «el carácter del mexicano», pero casi siempre pensaban en el mestizo urbano y dejaban fuera a los pueblos indígenas. Guillermo Bonfil Batalla, en México profundo (1987), señaló que existe un «México imaginario», el oficial y occidentalizado, que ignora al «México profundo» de raíz indígena. Si fuera extranjero, diría que lo mexicano está en lo que se comparte (la comida, las fiestas, la religiosidad popular, el idioma), pero que cada región lo vive a su manera. La mexicaneidad, entonces, sería un tejido de muchas culturas que todavía está aprendiendo a dialogar en igualdad.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o">
    <p:bg>
      <p:bgPr>
        <a:solidFill>
          <a:srgbClr val="1F1B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280160"/>
            <a:ext cx="8229600" cy="14630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magen izquierda">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480560" y="777240"/>
            <a:ext cx="4251960" cy="822960"/>
          </a:xfrm>
          <a:prstGeom prst="rect">
            <a:avLst/>
          </a:prstGeom>
          <a:noFill/>
          <a:ln/>
        </p:spPr>
        <p:txBody>
          <a:bodyPr wrap="square" rtlCol="0"/>
          <a:lstStyle>
            <a:lvl1pPr algn="l" indent="0" marL="0">
              <a:buNone/>
              <a:defRPr lang="en-US" sz="2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magen derecha">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777240"/>
            <a:ext cx="4251960" cy="822960"/>
          </a:xfrm>
          <a:prstGeom prst="rect">
            <a:avLst/>
          </a:prstGeom>
          <a:noFill/>
          <a:ln/>
        </p:spPr>
        <p:txBody>
          <a:bodyPr wrap="square" rtlCol="0"/>
          <a:lstStyle>
            <a:lvl1pPr algn="l" indent="0" marL="0">
              <a:buNone/>
              <a:defRPr lang="en-US" sz="2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lo titul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5.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5.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5.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Foto de fondo" descr="Piñatas de colores en el Mercado de Sonora, Ciudad de México">    </p:cNvPr>
          <p:cNvPicPr>
            <a:picLocks noChangeAspect="1"/>
          </p:cNvPicPr>
          <p:nvPr/>
        </p:nvPicPr>
        <p:blipFill>
          <a:blip r:embed="rId1">
            <a:alphaModFix amt="28000"/>
          </a:blip>
          <a:stretch>
            <a:fillRect/>
          </a:stretch>
        </p:blipFill>
        <p:spPr>
          <a:xfrm>
            <a:off x="0" y="0"/>
            <a:ext cx="9144000" cy="5143500"/>
          </a:xfrm>
          <a:prstGeom prst="rect">
            <a:avLst/>
          </a:prstGeom>
        </p:spPr>
      </p:pic>
      <p:sp>
        <p:nvSpPr>
          <p:cNvPr id="3" name="Text 0"/>
          <p:cNvSpPr/>
          <p:nvPr>
            <p:ph idx="100" type="title" hasCustomPrompt="1"/>
          </p:nvPr>
        </p:nvSpPr>
        <p:spPr>
          <a:xfrm>
            <a:off x="457200" y="1280160"/>
            <a:ext cx="8229600" cy="146304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Multi, pluri e inter: tres formas de vivir la diversidad cultural</a:t>
            </a:r>
            <a:endParaRPr lang="en-US" sz="4000" dirty="0"/>
          </a:p>
        </p:txBody>
      </p:sp>
      <p:sp>
        <p:nvSpPr>
          <p:cNvPr id="4" name="Subtítulo"/>
          <p:cNvSpPr txBox="1"/>
          <p:nvPr/>
        </p:nvSpPr>
        <p:spPr>
          <a:xfrm>
            <a:off x="457200" y="2880360"/>
            <a:ext cx="8229600" cy="457200"/>
          </a:xfrm>
          <a:prstGeom prst="rect">
            <a:avLst/>
          </a:prstGeom>
          <a:noFill/>
          <a:ln/>
        </p:spPr>
        <p:txBody>
          <a:bodyPr wrap="square" lIns="0" tIns="0" rIns="0" bIns="0" rtlCol="0" anchor="ctr"/>
          <a:lstStyle/>
          <a:p>
            <a:pPr indent="0" marL="0">
              <a:buNone/>
            </a:pPr>
            <a:r>
              <a:rPr lang="en-US" sz="1600" i="1" dirty="0">
                <a:solidFill>
                  <a:schemeClr val="bg2"/>
                </a:solidFill>
              </a:rPr>
              <a:t>Ejemplos de Canadá, Bolivia y México, y una reflexión sobre la cultura mexicana</a:t>
            </a:r>
            <a:endParaRPr lang="en-US" sz="1600" dirty="0"/>
          </a:p>
        </p:txBody>
      </p:sp>
      <p:sp>
        <p:nvSpPr>
          <p:cNvPr id="5" name="Datos del alumno"/>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400" b="1" dirty="0">
                <a:solidFill>
                  <a:schemeClr val="bg1"/>
                </a:solidFill>
              </a:rPr>
              <a:t>Luis Alberto Román Verde  ·  Licenciatura en Relaciones Internacionales  ·  16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Tres palabras parecidas, tres ideas distintas</a:t>
            </a:r>
            <a:endParaRPr lang="en-US" sz="3000" dirty="0"/>
          </a:p>
        </p:txBody>
      </p:sp>
      <p:sp>
        <p:nvSpPr>
          <p:cNvPr id="3" name="Tarjeta MULTICULTURALIDAD"/>
          <p:cNvSpPr/>
          <p:nvPr/>
        </p:nvSpPr>
        <p:spPr>
          <a:xfrm>
            <a:off x="457200" y="1143000"/>
            <a:ext cx="2560320" cy="3520440"/>
          </a:xfrm>
          <a:prstGeom prst="roundRect">
            <a:avLst>
              <a:gd name="adj" fmla="val 4286"/>
            </a:avLst>
          </a:prstGeom>
          <a:solidFill>
            <a:schemeClr val="bg2"/>
          </a:solidFill>
          <a:ln/>
        </p:spPr>
      </p:sp>
      <p:sp>
        <p:nvSpPr>
          <p:cNvPr id="4" name="Círculo icono"/>
          <p:cNvSpPr/>
          <p:nvPr/>
        </p:nvSpPr>
        <p:spPr>
          <a:xfrm>
            <a:off x="685800" y="1371600"/>
            <a:ext cx="685800" cy="685800"/>
          </a:xfrm>
          <a:prstGeom prst="ellipse">
            <a:avLst/>
          </a:prstGeom>
          <a:solidFill>
            <a:schemeClr val="bg1"/>
          </a:solidFill>
          <a:ln w="25400">
            <a:solidFill>
              <a:schemeClr val="accent1"/>
            </a:solidFill>
            <a:prstDash val="solid"/>
          </a:ln>
        </p:spPr>
      </p:sp>
      <p:pic>
        <p:nvPicPr>
          <p:cNvPr id="5" name="Icono MULTICULTURALIDAD" descr="MULTICULTURALIDAD">    </p:cNvPr>
          <p:cNvPicPr>
            <a:picLocks noChangeAspect="1"/>
          </p:cNvPicPr>
          <p:nvPr/>
        </p:nvPicPr>
        <p:blipFill>
          <a:blip r:embed="rId1"/>
          <a:stretch>
            <a:fillRect/>
          </a:stretch>
        </p:blipFill>
        <p:spPr>
          <a:xfrm>
            <a:off x="850392" y="1536192"/>
            <a:ext cx="356616" cy="356616"/>
          </a:xfrm>
          <a:prstGeom prst="rect">
            <a:avLst/>
          </a:prstGeom>
        </p:spPr>
      </p:pic>
      <p:sp>
        <p:nvSpPr>
          <p:cNvPr id="6" name="Concepto"/>
          <p:cNvSpPr txBox="1"/>
          <p:nvPr/>
        </p:nvSpPr>
        <p:spPr>
          <a:xfrm>
            <a:off x="685800" y="2194560"/>
            <a:ext cx="2194560" cy="320040"/>
          </a:xfrm>
          <a:prstGeom prst="rect">
            <a:avLst/>
          </a:prstGeom>
          <a:noFill/>
          <a:ln/>
        </p:spPr>
        <p:txBody>
          <a:bodyPr wrap="square" lIns="0" tIns="0" rIns="0" bIns="0" rtlCol="0" anchor="ctr"/>
          <a:lstStyle/>
          <a:p>
            <a:pPr indent="0" marL="0">
              <a:buNone/>
            </a:pPr>
            <a:r>
              <a:rPr lang="en-US" sz="1400" b="1" dirty="0">
                <a:solidFill>
                  <a:schemeClr val="accent1"/>
                </a:solidFill>
              </a:rPr>
              <a:t>MULTICULTURALIDAD</a:t>
            </a:r>
            <a:endParaRPr lang="en-US" sz="1400" dirty="0"/>
          </a:p>
        </p:txBody>
      </p:sp>
      <p:sp>
        <p:nvSpPr>
          <p:cNvPr id="7" name="Definición"/>
          <p:cNvSpPr txBox="1"/>
          <p:nvPr/>
        </p:nvSpPr>
        <p:spPr>
          <a:xfrm>
            <a:off x="685800" y="2560320"/>
            <a:ext cx="2148840" cy="1417320"/>
          </a:xfrm>
          <a:prstGeom prst="rect">
            <a:avLst/>
          </a:prstGeom>
          <a:noFill/>
          <a:ln/>
        </p:spPr>
        <p:txBody>
          <a:bodyPr wrap="square" lIns="0" tIns="0" rIns="0" bIns="0" rtlCol="0" anchor="t"/>
          <a:lstStyle/>
          <a:p>
            <a:pPr indent="0" marL="0">
              <a:buNone/>
            </a:pPr>
            <a:r>
              <a:rPr lang="en-US" sz="1300" dirty="0">
                <a:solidFill>
                  <a:schemeClr val="tx2"/>
                </a:solidFill>
              </a:rPr>
              <a:t>Varias culturas comparten un mismo territorio y se toleran, pero cada una vive en su propio espacio. Es convivir lado a lado.</a:t>
            </a:r>
            <a:endParaRPr lang="en-US" sz="1300" dirty="0"/>
          </a:p>
        </p:txBody>
      </p:sp>
      <p:sp>
        <p:nvSpPr>
          <p:cNvPr id="8" name="Palabras clave"/>
          <p:cNvSpPr txBox="1"/>
          <p:nvPr/>
        </p:nvSpPr>
        <p:spPr>
          <a:xfrm>
            <a:off x="685800" y="4069080"/>
            <a:ext cx="2148840" cy="411480"/>
          </a:xfrm>
          <a:prstGeom prst="rect">
            <a:avLst/>
          </a:prstGeom>
          <a:noFill/>
          <a:ln/>
        </p:spPr>
        <p:txBody>
          <a:bodyPr wrap="square" lIns="0" tIns="0" rIns="0" bIns="0" rtlCol="0" anchor="t"/>
          <a:lstStyle/>
          <a:p>
            <a:pPr indent="0" marL="0">
              <a:buNone/>
            </a:pPr>
            <a:r>
              <a:rPr lang="en-US" sz="1100" i="1" dirty="0">
                <a:solidFill>
                  <a:schemeClr val="accent1"/>
                </a:solidFill>
              </a:rPr>
              <a:t>Coexistencia · tolerancia · mosaico</a:t>
            </a:r>
            <a:endParaRPr lang="en-US" sz="1100" dirty="0"/>
          </a:p>
        </p:txBody>
      </p:sp>
      <p:sp>
        <p:nvSpPr>
          <p:cNvPr id="9" name="Tarjeta PLURICULTURALIDAD"/>
          <p:cNvSpPr/>
          <p:nvPr/>
        </p:nvSpPr>
        <p:spPr>
          <a:xfrm>
            <a:off x="3291840" y="1143000"/>
            <a:ext cx="2560320" cy="3520440"/>
          </a:xfrm>
          <a:prstGeom prst="roundRect">
            <a:avLst>
              <a:gd name="adj" fmla="val 4286"/>
            </a:avLst>
          </a:prstGeom>
          <a:solidFill>
            <a:schemeClr val="bg2"/>
          </a:solidFill>
          <a:ln/>
        </p:spPr>
      </p:sp>
      <p:sp>
        <p:nvSpPr>
          <p:cNvPr id="10" name="Círculo icono"/>
          <p:cNvSpPr/>
          <p:nvPr/>
        </p:nvSpPr>
        <p:spPr>
          <a:xfrm>
            <a:off x="3520440" y="1371600"/>
            <a:ext cx="685800" cy="685800"/>
          </a:xfrm>
          <a:prstGeom prst="ellipse">
            <a:avLst/>
          </a:prstGeom>
          <a:solidFill>
            <a:schemeClr val="bg1"/>
          </a:solidFill>
          <a:ln w="25400">
            <a:solidFill>
              <a:schemeClr val="accent2"/>
            </a:solidFill>
            <a:prstDash val="solid"/>
          </a:ln>
        </p:spPr>
      </p:sp>
      <p:pic>
        <p:nvPicPr>
          <p:cNvPr id="11" name="Icono PLURICULTURALIDAD" descr="PLURICULTURALIDAD">    </p:cNvPr>
          <p:cNvPicPr>
            <a:picLocks noChangeAspect="1"/>
          </p:cNvPicPr>
          <p:nvPr/>
        </p:nvPicPr>
        <p:blipFill>
          <a:blip r:embed="rId2"/>
          <a:stretch>
            <a:fillRect/>
          </a:stretch>
        </p:blipFill>
        <p:spPr>
          <a:xfrm>
            <a:off x="3685032" y="1536192"/>
            <a:ext cx="356616" cy="356616"/>
          </a:xfrm>
          <a:prstGeom prst="rect">
            <a:avLst/>
          </a:prstGeom>
        </p:spPr>
      </p:pic>
      <p:sp>
        <p:nvSpPr>
          <p:cNvPr id="12" name="Concepto"/>
          <p:cNvSpPr txBox="1"/>
          <p:nvPr/>
        </p:nvSpPr>
        <p:spPr>
          <a:xfrm>
            <a:off x="3520440" y="2194560"/>
            <a:ext cx="2194560" cy="320040"/>
          </a:xfrm>
          <a:prstGeom prst="rect">
            <a:avLst/>
          </a:prstGeom>
          <a:noFill/>
          <a:ln/>
        </p:spPr>
        <p:txBody>
          <a:bodyPr wrap="square" lIns="0" tIns="0" rIns="0" bIns="0" rtlCol="0" anchor="ctr"/>
          <a:lstStyle/>
          <a:p>
            <a:pPr indent="0" marL="0">
              <a:buNone/>
            </a:pPr>
            <a:r>
              <a:rPr lang="en-US" sz="1400" b="1" dirty="0">
                <a:solidFill>
                  <a:schemeClr val="accent2"/>
                </a:solidFill>
              </a:rPr>
              <a:t>PLURICULTURALIDAD</a:t>
            </a:r>
            <a:endParaRPr lang="en-US" sz="1400" dirty="0"/>
          </a:p>
        </p:txBody>
      </p:sp>
      <p:sp>
        <p:nvSpPr>
          <p:cNvPr id="13" name="Definición"/>
          <p:cNvSpPr txBox="1"/>
          <p:nvPr/>
        </p:nvSpPr>
        <p:spPr>
          <a:xfrm>
            <a:off x="3520440" y="2560320"/>
            <a:ext cx="2148840" cy="1417320"/>
          </a:xfrm>
          <a:prstGeom prst="rect">
            <a:avLst/>
          </a:prstGeom>
          <a:noFill/>
          <a:ln/>
        </p:spPr>
        <p:txBody>
          <a:bodyPr wrap="square" lIns="0" tIns="0" rIns="0" bIns="0" rtlCol="0" anchor="t"/>
          <a:lstStyle/>
          <a:p>
            <a:pPr indent="0" marL="0">
              <a:buNone/>
            </a:pPr>
            <a:r>
              <a:rPr lang="en-US" sz="1300" dirty="0">
                <a:solidFill>
                  <a:schemeClr val="tx2"/>
                </a:solidFill>
              </a:rPr>
              <a:t>El Estado y la sociedad reconocen que hay muchas culturas con los mismos derechos: lenguas, territorios y formas de gobierno propias.</a:t>
            </a:r>
            <a:endParaRPr lang="en-US" sz="1300" dirty="0"/>
          </a:p>
        </p:txBody>
      </p:sp>
      <p:sp>
        <p:nvSpPr>
          <p:cNvPr id="14" name="Palabras clave"/>
          <p:cNvSpPr txBox="1"/>
          <p:nvPr/>
        </p:nvSpPr>
        <p:spPr>
          <a:xfrm>
            <a:off x="3520440" y="4069080"/>
            <a:ext cx="2148840" cy="411480"/>
          </a:xfrm>
          <a:prstGeom prst="rect">
            <a:avLst/>
          </a:prstGeom>
          <a:noFill/>
          <a:ln/>
        </p:spPr>
        <p:txBody>
          <a:bodyPr wrap="square" lIns="0" tIns="0" rIns="0" bIns="0" rtlCol="0" anchor="t"/>
          <a:lstStyle/>
          <a:p>
            <a:pPr indent="0" marL="0">
              <a:buNone/>
            </a:pPr>
            <a:r>
              <a:rPr lang="en-US" sz="1100" i="1" dirty="0">
                <a:solidFill>
                  <a:schemeClr val="accent2"/>
                </a:solidFill>
              </a:rPr>
              <a:t>Reconocimiento · derechos · pluralidad</a:t>
            </a:r>
            <a:endParaRPr lang="en-US" sz="1100" dirty="0"/>
          </a:p>
        </p:txBody>
      </p:sp>
      <p:sp>
        <p:nvSpPr>
          <p:cNvPr id="15" name="Tarjeta INTERCULTURALIDAD"/>
          <p:cNvSpPr/>
          <p:nvPr/>
        </p:nvSpPr>
        <p:spPr>
          <a:xfrm>
            <a:off x="6126480" y="1143000"/>
            <a:ext cx="2560320" cy="3520440"/>
          </a:xfrm>
          <a:prstGeom prst="roundRect">
            <a:avLst>
              <a:gd name="adj" fmla="val 4286"/>
            </a:avLst>
          </a:prstGeom>
          <a:solidFill>
            <a:schemeClr val="bg2"/>
          </a:solidFill>
          <a:ln/>
        </p:spPr>
      </p:sp>
      <p:sp>
        <p:nvSpPr>
          <p:cNvPr id="16" name="Círculo icono"/>
          <p:cNvSpPr/>
          <p:nvPr/>
        </p:nvSpPr>
        <p:spPr>
          <a:xfrm>
            <a:off x="6355080" y="1371600"/>
            <a:ext cx="685800" cy="685800"/>
          </a:xfrm>
          <a:prstGeom prst="ellipse">
            <a:avLst/>
          </a:prstGeom>
          <a:solidFill>
            <a:schemeClr val="bg1"/>
          </a:solidFill>
          <a:ln w="25400">
            <a:solidFill>
              <a:schemeClr val="accent3"/>
            </a:solidFill>
            <a:prstDash val="solid"/>
          </a:ln>
        </p:spPr>
      </p:sp>
      <p:pic>
        <p:nvPicPr>
          <p:cNvPr id="17" name="Icono INTERCULTURALIDAD" descr="INTERCULTURALIDAD">    </p:cNvPr>
          <p:cNvPicPr>
            <a:picLocks noChangeAspect="1"/>
          </p:cNvPicPr>
          <p:nvPr/>
        </p:nvPicPr>
        <p:blipFill>
          <a:blip r:embed="rId3"/>
          <a:stretch>
            <a:fillRect/>
          </a:stretch>
        </p:blipFill>
        <p:spPr>
          <a:xfrm>
            <a:off x="6519672" y="1536192"/>
            <a:ext cx="356616" cy="356616"/>
          </a:xfrm>
          <a:prstGeom prst="rect">
            <a:avLst/>
          </a:prstGeom>
        </p:spPr>
      </p:pic>
      <p:sp>
        <p:nvSpPr>
          <p:cNvPr id="18" name="Concepto"/>
          <p:cNvSpPr txBox="1"/>
          <p:nvPr/>
        </p:nvSpPr>
        <p:spPr>
          <a:xfrm>
            <a:off x="6355080" y="2194560"/>
            <a:ext cx="2194560" cy="320040"/>
          </a:xfrm>
          <a:prstGeom prst="rect">
            <a:avLst/>
          </a:prstGeom>
          <a:noFill/>
          <a:ln/>
        </p:spPr>
        <p:txBody>
          <a:bodyPr wrap="square" lIns="0" tIns="0" rIns="0" bIns="0" rtlCol="0" anchor="ctr"/>
          <a:lstStyle/>
          <a:p>
            <a:pPr indent="0" marL="0">
              <a:buNone/>
            </a:pPr>
            <a:r>
              <a:rPr lang="en-US" sz="1400" b="1" dirty="0">
                <a:solidFill>
                  <a:schemeClr val="accent3"/>
                </a:solidFill>
              </a:rPr>
              <a:t>INTERCULTURALIDAD</a:t>
            </a:r>
            <a:endParaRPr lang="en-US" sz="1400" dirty="0"/>
          </a:p>
        </p:txBody>
      </p:sp>
      <p:sp>
        <p:nvSpPr>
          <p:cNvPr id="19" name="Definición"/>
          <p:cNvSpPr txBox="1"/>
          <p:nvPr/>
        </p:nvSpPr>
        <p:spPr>
          <a:xfrm>
            <a:off x="6355080" y="2560320"/>
            <a:ext cx="2148840" cy="1417320"/>
          </a:xfrm>
          <a:prstGeom prst="rect">
            <a:avLst/>
          </a:prstGeom>
          <a:noFill/>
          <a:ln/>
        </p:spPr>
        <p:txBody>
          <a:bodyPr wrap="square" lIns="0" tIns="0" rIns="0" bIns="0" rtlCol="0" anchor="t"/>
          <a:lstStyle/>
          <a:p>
            <a:pPr indent="0" marL="0">
              <a:buNone/>
            </a:pPr>
            <a:r>
              <a:rPr lang="en-US" sz="1300" dirty="0">
                <a:solidFill>
                  <a:schemeClr val="tx2"/>
                </a:solidFill>
              </a:rPr>
              <a:t>Las culturas se relacionan, dialogan e intercambian en igualdad. Cada una aprende de la otra y ambas se transforman.</a:t>
            </a:r>
            <a:endParaRPr lang="en-US" sz="1300" dirty="0"/>
          </a:p>
        </p:txBody>
      </p:sp>
      <p:sp>
        <p:nvSpPr>
          <p:cNvPr id="20" name="Palabras clave"/>
          <p:cNvSpPr txBox="1"/>
          <p:nvPr/>
        </p:nvSpPr>
        <p:spPr>
          <a:xfrm>
            <a:off x="6355080" y="4069080"/>
            <a:ext cx="2148840" cy="411480"/>
          </a:xfrm>
          <a:prstGeom prst="rect">
            <a:avLst/>
          </a:prstGeom>
          <a:noFill/>
          <a:ln/>
        </p:spPr>
        <p:txBody>
          <a:bodyPr wrap="square" lIns="0" tIns="0" rIns="0" bIns="0" rtlCol="0" anchor="t"/>
          <a:lstStyle/>
          <a:p>
            <a:pPr indent="0" marL="0">
              <a:buNone/>
            </a:pPr>
            <a:r>
              <a:rPr lang="en-US" sz="1100" i="1" dirty="0">
                <a:solidFill>
                  <a:schemeClr val="accent3"/>
                </a:solidFill>
              </a:rPr>
              <a:t>Diálogo · intercambio · respeto mutuo</a:t>
            </a:r>
            <a:endParaRPr lang="en-US" sz="11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Foto" descr="Kensington Market, Toronto">    </p:cNvPr>
          <p:cNvPicPr>
            <a:picLocks noChangeAspect="1"/>
          </p:cNvPicPr>
          <p:nvPr/>
        </p:nvPicPr>
        <p:blipFill>
          <a:blip r:embed="rId1"/>
          <a:stretch>
            <a:fillRect/>
          </a:stretch>
        </p:blipFill>
        <p:spPr>
          <a:xfrm>
            <a:off x="0" y="0"/>
            <a:ext cx="4023360" cy="5143500"/>
          </a:xfrm>
          <a:prstGeom prst="rect">
            <a:avLst/>
          </a:prstGeom>
        </p:spPr>
      </p:pic>
      <p:sp>
        <p:nvSpPr>
          <p:cNvPr id="3" name="Fondo pie de foto"/>
          <p:cNvSpPr/>
          <p:nvPr/>
        </p:nvSpPr>
        <p:spPr>
          <a:xfrm>
            <a:off x="0" y="4850892"/>
            <a:ext cx="4023360" cy="292608"/>
          </a:xfrm>
          <a:prstGeom prst="rect">
            <a:avLst/>
          </a:prstGeom>
          <a:solidFill>
            <a:schemeClr val="tx1">
              <a:alpha val="65000"/>
            </a:schemeClr>
          </a:solidFill>
          <a:ln/>
        </p:spPr>
      </p:sp>
      <p:sp>
        <p:nvSpPr>
          <p:cNvPr id="4" name="Pie de foto"/>
          <p:cNvSpPr txBox="1"/>
          <p:nvPr/>
        </p:nvSpPr>
        <p:spPr>
          <a:xfrm>
            <a:off x="109728" y="4850892"/>
            <a:ext cx="3803904" cy="292608"/>
          </a:xfrm>
          <a:prstGeom prst="rect">
            <a:avLst/>
          </a:prstGeom>
          <a:noFill/>
          <a:ln/>
        </p:spPr>
        <p:txBody>
          <a:bodyPr wrap="square" lIns="0" tIns="0" rIns="0" bIns="0" rtlCol="0" anchor="ctr"/>
          <a:lstStyle/>
          <a:p>
            <a:pPr indent="0" marL="0">
              <a:buNone/>
            </a:pPr>
            <a:r>
              <a:rPr lang="en-US" sz="900" dirty="0">
                <a:solidFill>
                  <a:schemeClr val="bg1"/>
                </a:solidFill>
              </a:rPr>
              <a:t>Kensington Market, Toronto</a:t>
            </a:r>
            <a:endParaRPr lang="en-US" sz="900" dirty="0"/>
          </a:p>
        </p:txBody>
      </p:sp>
      <p:sp>
        <p:nvSpPr>
          <p:cNvPr id="5" name="Etiqueta"/>
          <p:cNvSpPr txBox="1"/>
          <p:nvPr/>
        </p:nvSpPr>
        <p:spPr>
          <a:xfrm>
            <a:off x="4480560" y="347472"/>
            <a:ext cx="32918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MULTICULTURALIDAD · TORONTO, CANADÁ</a:t>
            </a:r>
            <a:endParaRPr lang="en-US" sz="1000" dirty="0"/>
          </a:p>
        </p:txBody>
      </p:sp>
      <p:sp>
        <p:nvSpPr>
          <p:cNvPr id="6" name="Text 0"/>
          <p:cNvSpPr/>
          <p:nvPr>
            <p:ph idx="100" type="title" hasCustomPrompt="1"/>
          </p:nvPr>
        </p:nvSpPr>
        <p:spPr>
          <a:xfrm>
            <a:off x="4480560" y="777240"/>
            <a:ext cx="4251960" cy="82296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Toronto: muchas culturas en una sola ciudad</a:t>
            </a:r>
            <a:endParaRPr lang="en-US" sz="2400" dirty="0"/>
          </a:p>
        </p:txBody>
      </p:sp>
      <p:sp>
        <p:nvSpPr>
          <p:cNvPr id="7" name="Descripción"/>
          <p:cNvSpPr txBox="1"/>
          <p:nvPr/>
        </p:nvSpPr>
        <p:spPr>
          <a:xfrm>
            <a:off x="4480560" y="1691640"/>
            <a:ext cx="4251960" cy="1051560"/>
          </a:xfrm>
          <a:prstGeom prst="rect">
            <a:avLst/>
          </a:prstGeom>
          <a:noFill/>
          <a:ln/>
        </p:spPr>
        <p:txBody>
          <a:bodyPr wrap="square" lIns="0" tIns="0" rIns="0" bIns="0" rtlCol="0" anchor="t"/>
          <a:lstStyle/>
          <a:p>
            <a:pPr indent="0" marL="0">
              <a:buNone/>
            </a:pPr>
            <a:r>
              <a:rPr lang="en-US" sz="1350" dirty="0">
                <a:solidFill>
                  <a:schemeClr val="tx2"/>
                </a:solidFill>
              </a:rPr>
              <a:t>Casi la mitad de sus habitantes nació fuera de Canadá. En barrios como Kensington Market, Chinatown, Little Italy o Greektown, cada comunidad conserva su idioma, su comida y sus comercios.</a:t>
            </a:r>
            <a:endParaRPr lang="en-US" sz="1350" dirty="0"/>
          </a:p>
        </p:txBody>
      </p:sp>
      <p:sp>
        <p:nvSpPr>
          <p:cNvPr id="8" name="Número idea 1"/>
          <p:cNvSpPr txBox="1"/>
          <p:nvPr/>
        </p:nvSpPr>
        <p:spPr>
          <a:xfrm>
            <a:off x="4480560" y="2871216"/>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Idea clave 1"/>
          <p:cNvSpPr txBox="1"/>
          <p:nvPr/>
        </p:nvSpPr>
        <p:spPr>
          <a:xfrm>
            <a:off x="4937760" y="2834640"/>
            <a:ext cx="3794760" cy="603504"/>
          </a:xfrm>
          <a:prstGeom prst="rect">
            <a:avLst/>
          </a:prstGeom>
          <a:noFill/>
          <a:ln/>
        </p:spPr>
        <p:txBody>
          <a:bodyPr wrap="square" lIns="0" tIns="0" rIns="0" bIns="0" rtlCol="0" anchor="t"/>
          <a:lstStyle/>
          <a:p>
            <a:pPr indent="0" marL="0">
              <a:buNone/>
            </a:pPr>
            <a:r>
              <a:rPr lang="en-US" sz="1300" b="1" dirty="0">
                <a:solidFill>
                  <a:schemeClr val="accent1"/>
                </a:solidFill>
              </a:rPr>
              <a:t>Coexistencia: </a:t>
            </a:r>
            <a:pPr indent="0" marL="0">
              <a:buNone/>
            </a:pPr>
            <a:r>
              <a:rPr lang="en-US" sz="1300" dirty="0">
                <a:solidFill>
                  <a:schemeClr val="tx2"/>
                </a:solidFill>
              </a:rPr>
              <a:t>varios grupos comparten la misma ciudad.</a:t>
            </a:r>
            <a:endParaRPr lang="en-US" sz="1300" dirty="0"/>
          </a:p>
        </p:txBody>
      </p:sp>
      <p:sp>
        <p:nvSpPr>
          <p:cNvPr id="10" name="Número idea 2"/>
          <p:cNvSpPr txBox="1"/>
          <p:nvPr/>
        </p:nvSpPr>
        <p:spPr>
          <a:xfrm>
            <a:off x="4480560" y="3529584"/>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Idea clave 2"/>
          <p:cNvSpPr txBox="1"/>
          <p:nvPr/>
        </p:nvSpPr>
        <p:spPr>
          <a:xfrm>
            <a:off x="4937760" y="3493008"/>
            <a:ext cx="3794760" cy="603504"/>
          </a:xfrm>
          <a:prstGeom prst="rect">
            <a:avLst/>
          </a:prstGeom>
          <a:noFill/>
          <a:ln/>
        </p:spPr>
        <p:txBody>
          <a:bodyPr wrap="square" lIns="0" tIns="0" rIns="0" bIns="0" rtlCol="0" anchor="t"/>
          <a:lstStyle/>
          <a:p>
            <a:pPr indent="0" marL="0">
              <a:buNone/>
            </a:pPr>
            <a:r>
              <a:rPr lang="en-US" sz="1300" b="1" dirty="0">
                <a:solidFill>
                  <a:schemeClr val="accent1"/>
                </a:solidFill>
              </a:rPr>
              <a:t>Mosaico cultural: </a:t>
            </a:r>
            <a:pPr indent="0" marL="0">
              <a:buNone/>
            </a:pPr>
            <a:r>
              <a:rPr lang="en-US" sz="1300" dirty="0">
                <a:solidFill>
                  <a:schemeClr val="tx2"/>
                </a:solidFill>
              </a:rPr>
              <a:t>cada pieza conserva su color; nadie tiene que «fundirse».</a:t>
            </a:r>
            <a:endParaRPr lang="en-US" sz="1300" dirty="0"/>
          </a:p>
        </p:txBody>
      </p:sp>
      <p:sp>
        <p:nvSpPr>
          <p:cNvPr id="12" name="Número idea 3"/>
          <p:cNvSpPr txBox="1"/>
          <p:nvPr/>
        </p:nvSpPr>
        <p:spPr>
          <a:xfrm>
            <a:off x="4480560" y="4187952"/>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Idea clave 3"/>
          <p:cNvSpPr txBox="1"/>
          <p:nvPr/>
        </p:nvSpPr>
        <p:spPr>
          <a:xfrm>
            <a:off x="4937760" y="4151376"/>
            <a:ext cx="3794760" cy="603504"/>
          </a:xfrm>
          <a:prstGeom prst="rect">
            <a:avLst/>
          </a:prstGeom>
          <a:noFill/>
          <a:ln/>
        </p:spPr>
        <p:txBody>
          <a:bodyPr wrap="square" lIns="0" tIns="0" rIns="0" bIns="0" rtlCol="0" anchor="t"/>
          <a:lstStyle/>
          <a:p>
            <a:pPr indent="0" marL="0">
              <a:buNone/>
            </a:pPr>
            <a:r>
              <a:rPr lang="en-US" sz="1300" b="1" dirty="0">
                <a:solidFill>
                  <a:schemeClr val="accent1"/>
                </a:solidFill>
              </a:rPr>
              <a:t>Tolerancia: </a:t>
            </a:r>
            <a:pPr indent="0" marL="0">
              <a:buNone/>
            </a:pPr>
            <a:r>
              <a:rPr lang="en-US" sz="1300" dirty="0">
                <a:solidFill>
                  <a:schemeClr val="tx2"/>
                </a:solidFill>
              </a:rPr>
              <a:t>se respeta la diferencia, aunque no siempre hay contacto.</a:t>
            </a:r>
            <a:endParaRPr lang="en-US" sz="13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Foto" descr="Carnaval Caribeño (Caribana), Toronto">    </p:cNvPr>
          <p:cNvPicPr>
            <a:picLocks noChangeAspect="1"/>
          </p:cNvPicPr>
          <p:nvPr/>
        </p:nvPicPr>
        <p:blipFill>
          <a:blip r:embed="rId1"/>
          <a:stretch>
            <a:fillRect/>
          </a:stretch>
        </p:blipFill>
        <p:spPr>
          <a:xfrm>
            <a:off x="5120640" y="0"/>
            <a:ext cx="4023360" cy="5143500"/>
          </a:xfrm>
          <a:prstGeom prst="rect">
            <a:avLst/>
          </a:prstGeom>
        </p:spPr>
      </p:pic>
      <p:sp>
        <p:nvSpPr>
          <p:cNvPr id="3" name="Fondo pie de foto"/>
          <p:cNvSpPr/>
          <p:nvPr/>
        </p:nvSpPr>
        <p:spPr>
          <a:xfrm>
            <a:off x="5120640" y="4850892"/>
            <a:ext cx="4023360" cy="292608"/>
          </a:xfrm>
          <a:prstGeom prst="rect">
            <a:avLst/>
          </a:prstGeom>
          <a:solidFill>
            <a:schemeClr val="tx1">
              <a:alpha val="65000"/>
            </a:schemeClr>
          </a:solidFill>
          <a:ln/>
        </p:spPr>
      </p:sp>
      <p:sp>
        <p:nvSpPr>
          <p:cNvPr id="4" name="Pie de foto"/>
          <p:cNvSpPr txBox="1"/>
          <p:nvPr/>
        </p:nvSpPr>
        <p:spPr>
          <a:xfrm>
            <a:off x="5230368" y="4850892"/>
            <a:ext cx="3803904" cy="292608"/>
          </a:xfrm>
          <a:prstGeom prst="rect">
            <a:avLst/>
          </a:prstGeom>
          <a:noFill/>
          <a:ln/>
        </p:spPr>
        <p:txBody>
          <a:bodyPr wrap="square" lIns="0" tIns="0" rIns="0" bIns="0" rtlCol="0" anchor="ctr"/>
          <a:lstStyle/>
          <a:p>
            <a:pPr indent="0" marL="0">
              <a:buNone/>
            </a:pPr>
            <a:r>
              <a:rPr lang="en-US" sz="900" dirty="0">
                <a:solidFill>
                  <a:schemeClr val="bg1"/>
                </a:solidFill>
              </a:rPr>
              <a:t>Carnaval Caribeño (Caribana), Toronto</a:t>
            </a:r>
            <a:endParaRPr lang="en-US" sz="900" dirty="0"/>
          </a:p>
        </p:txBody>
      </p:sp>
      <p:sp>
        <p:nvSpPr>
          <p:cNvPr id="5" name="Etiqueta"/>
          <p:cNvSpPr txBox="1"/>
          <p:nvPr/>
        </p:nvSpPr>
        <p:spPr>
          <a:xfrm>
            <a:off x="457200" y="347472"/>
            <a:ext cx="32918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MULTICULTURALIDAD · TORONTO, CANADÁ</a:t>
            </a:r>
            <a:endParaRPr lang="en-US" sz="1000" dirty="0"/>
          </a:p>
        </p:txBody>
      </p:sp>
      <p:sp>
        <p:nvSpPr>
          <p:cNvPr id="6" name="Text 0"/>
          <p:cNvSpPr/>
          <p:nvPr>
            <p:ph idx="100" type="title" hasCustomPrompt="1"/>
          </p:nvPr>
        </p:nvSpPr>
        <p:spPr>
          <a:xfrm>
            <a:off x="457200" y="777240"/>
            <a:ext cx="4251960" cy="82296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Convivir lado a lado… pero no siempre juntos</a:t>
            </a:r>
            <a:endParaRPr lang="en-US" sz="2400" dirty="0"/>
          </a:p>
        </p:txBody>
      </p:sp>
      <p:sp>
        <p:nvSpPr>
          <p:cNvPr id="7" name="Descripción"/>
          <p:cNvSpPr txBox="1"/>
          <p:nvPr/>
        </p:nvSpPr>
        <p:spPr>
          <a:xfrm>
            <a:off x="457200" y="1691640"/>
            <a:ext cx="4251960" cy="1051560"/>
          </a:xfrm>
          <a:prstGeom prst="rect">
            <a:avLst/>
          </a:prstGeom>
          <a:noFill/>
          <a:ln/>
        </p:spPr>
        <p:txBody>
          <a:bodyPr wrap="square" lIns="0" tIns="0" rIns="0" bIns="0" rtlCol="0" anchor="t"/>
          <a:lstStyle/>
          <a:p>
            <a:pPr indent="0" marL="0">
              <a:buNone/>
            </a:pPr>
            <a:r>
              <a:rPr lang="en-US" sz="1350" dirty="0">
                <a:solidFill>
                  <a:schemeClr val="tx2"/>
                </a:solidFill>
              </a:rPr>
              <a:t>Canadá hizo del multiculturalismo una política oficial en 1971 y una ley en 1988. El Carnaval Caribeño de Toronto, que se celebra desde 1967, muestra con orgullo la cultura de los migrantes del Caribe.</a:t>
            </a:r>
            <a:endParaRPr lang="en-US" sz="1350" dirty="0"/>
          </a:p>
        </p:txBody>
      </p:sp>
      <p:sp>
        <p:nvSpPr>
          <p:cNvPr id="8" name="Número idea 1"/>
          <p:cNvSpPr txBox="1"/>
          <p:nvPr/>
        </p:nvSpPr>
        <p:spPr>
          <a:xfrm>
            <a:off x="457200" y="2871216"/>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Idea clave 1"/>
          <p:cNvSpPr txBox="1"/>
          <p:nvPr/>
        </p:nvSpPr>
        <p:spPr>
          <a:xfrm>
            <a:off x="914400" y="2834640"/>
            <a:ext cx="3794760" cy="603504"/>
          </a:xfrm>
          <a:prstGeom prst="rect">
            <a:avLst/>
          </a:prstGeom>
          <a:noFill/>
          <a:ln/>
        </p:spPr>
        <p:txBody>
          <a:bodyPr wrap="square" lIns="0" tIns="0" rIns="0" bIns="0" rtlCol="0" anchor="t"/>
          <a:lstStyle/>
          <a:p>
            <a:pPr indent="0" marL="0">
              <a:buNone/>
            </a:pPr>
            <a:r>
              <a:rPr lang="en-US" sz="1300" b="1" dirty="0">
                <a:solidFill>
                  <a:schemeClr val="accent1"/>
                </a:solidFill>
              </a:rPr>
              <a:t>Reconocimiento: </a:t>
            </a:r>
            <a:pPr indent="0" marL="0">
              <a:buNone/>
            </a:pPr>
            <a:r>
              <a:rPr lang="en-US" sz="1300" dirty="0">
                <a:solidFill>
                  <a:schemeClr val="tx2"/>
                </a:solidFill>
              </a:rPr>
              <a:t>el Estado acepta y protege la diversidad.</a:t>
            </a:r>
            <a:endParaRPr lang="en-US" sz="1300" dirty="0"/>
          </a:p>
        </p:txBody>
      </p:sp>
      <p:sp>
        <p:nvSpPr>
          <p:cNvPr id="10" name="Número idea 2"/>
          <p:cNvSpPr txBox="1"/>
          <p:nvPr/>
        </p:nvSpPr>
        <p:spPr>
          <a:xfrm>
            <a:off x="457200" y="3529584"/>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Idea clave 2"/>
          <p:cNvSpPr txBox="1"/>
          <p:nvPr/>
        </p:nvSpPr>
        <p:spPr>
          <a:xfrm>
            <a:off x="914400" y="3493008"/>
            <a:ext cx="3794760" cy="603504"/>
          </a:xfrm>
          <a:prstGeom prst="rect">
            <a:avLst/>
          </a:prstGeom>
          <a:noFill/>
          <a:ln/>
        </p:spPr>
        <p:txBody>
          <a:bodyPr wrap="square" lIns="0" tIns="0" rIns="0" bIns="0" rtlCol="0" anchor="t"/>
          <a:lstStyle/>
          <a:p>
            <a:pPr indent="0" marL="0">
              <a:buNone/>
            </a:pPr>
            <a:r>
              <a:rPr lang="en-US" sz="1300" b="1" dirty="0">
                <a:solidFill>
                  <a:schemeClr val="accent1"/>
                </a:solidFill>
              </a:rPr>
              <a:t>Límite: </a:t>
            </a:r>
            <a:pPr indent="0" marL="0">
              <a:buNone/>
            </a:pPr>
            <a:r>
              <a:rPr lang="en-US" sz="1300" dirty="0">
                <a:solidFill>
                  <a:schemeClr val="tx2"/>
                </a:solidFill>
              </a:rPr>
              <a:t>las culturas se exhiben, pero pueden vivir como «islas» separadas.</a:t>
            </a:r>
            <a:endParaRPr lang="en-US" sz="1300" dirty="0"/>
          </a:p>
        </p:txBody>
      </p:sp>
      <p:sp>
        <p:nvSpPr>
          <p:cNvPr id="12" name="Número idea 3"/>
          <p:cNvSpPr txBox="1"/>
          <p:nvPr/>
        </p:nvSpPr>
        <p:spPr>
          <a:xfrm>
            <a:off x="457200" y="4187952"/>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Idea clave 3"/>
          <p:cNvSpPr txBox="1"/>
          <p:nvPr/>
        </p:nvSpPr>
        <p:spPr>
          <a:xfrm>
            <a:off x="914400" y="4151376"/>
            <a:ext cx="3794760" cy="603504"/>
          </a:xfrm>
          <a:prstGeom prst="rect">
            <a:avLst/>
          </a:prstGeom>
          <a:noFill/>
          <a:ln/>
        </p:spPr>
        <p:txBody>
          <a:bodyPr wrap="square" lIns="0" tIns="0" rIns="0" bIns="0" rtlCol="0" anchor="t"/>
          <a:lstStyle/>
          <a:p>
            <a:pPr indent="0" marL="0">
              <a:buNone/>
            </a:pPr>
            <a:r>
              <a:rPr lang="en-US" sz="1300" b="1" dirty="0">
                <a:solidFill>
                  <a:schemeClr val="accent1"/>
                </a:solidFill>
              </a:rPr>
              <a:t>Pregunta: </a:t>
            </a:r>
            <a:pPr indent="0" marL="0">
              <a:buNone/>
            </a:pPr>
            <a:r>
              <a:rPr lang="en-US" sz="1300" dirty="0">
                <a:solidFill>
                  <a:schemeClr val="tx2"/>
                </a:solidFill>
              </a:rPr>
              <a:t>¿basta con tolerar o hace falta dialogar?</a:t>
            </a:r>
            <a:endParaRPr lang="en-US" sz="13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Foto" descr="Wiphala y bandera de Bolivia">    </p:cNvPr>
          <p:cNvPicPr>
            <a:picLocks noChangeAspect="1"/>
          </p:cNvPicPr>
          <p:nvPr/>
        </p:nvPicPr>
        <p:blipFill>
          <a:blip r:embed="rId1"/>
          <a:stretch>
            <a:fillRect/>
          </a:stretch>
        </p:blipFill>
        <p:spPr>
          <a:xfrm>
            <a:off x="0" y="0"/>
            <a:ext cx="4023360" cy="5143500"/>
          </a:xfrm>
          <a:prstGeom prst="rect">
            <a:avLst/>
          </a:prstGeom>
        </p:spPr>
      </p:pic>
      <p:sp>
        <p:nvSpPr>
          <p:cNvPr id="3" name="Fondo pie de foto"/>
          <p:cNvSpPr/>
          <p:nvPr/>
        </p:nvSpPr>
        <p:spPr>
          <a:xfrm>
            <a:off x="0" y="4850892"/>
            <a:ext cx="4023360" cy="292608"/>
          </a:xfrm>
          <a:prstGeom prst="rect">
            <a:avLst/>
          </a:prstGeom>
          <a:solidFill>
            <a:schemeClr val="tx1">
              <a:alpha val="65000"/>
            </a:schemeClr>
          </a:solidFill>
          <a:ln/>
        </p:spPr>
      </p:sp>
      <p:sp>
        <p:nvSpPr>
          <p:cNvPr id="4" name="Pie de foto"/>
          <p:cNvSpPr txBox="1"/>
          <p:nvPr/>
        </p:nvSpPr>
        <p:spPr>
          <a:xfrm>
            <a:off x="109728" y="4850892"/>
            <a:ext cx="3803904" cy="292608"/>
          </a:xfrm>
          <a:prstGeom prst="rect">
            <a:avLst/>
          </a:prstGeom>
          <a:noFill/>
          <a:ln/>
        </p:spPr>
        <p:txBody>
          <a:bodyPr wrap="square" lIns="0" tIns="0" rIns="0" bIns="0" rtlCol="0" anchor="ctr"/>
          <a:lstStyle/>
          <a:p>
            <a:pPr indent="0" marL="0">
              <a:buNone/>
            </a:pPr>
            <a:r>
              <a:rPr lang="en-US" sz="900" dirty="0">
                <a:solidFill>
                  <a:schemeClr val="bg1"/>
                </a:solidFill>
              </a:rPr>
              <a:t>Wiphala y bandera de Bolivia</a:t>
            </a:r>
            <a:endParaRPr lang="en-US" sz="900" dirty="0"/>
          </a:p>
        </p:txBody>
      </p:sp>
      <p:sp>
        <p:nvSpPr>
          <p:cNvPr id="5" name="Etiqueta"/>
          <p:cNvSpPr txBox="1"/>
          <p:nvPr/>
        </p:nvSpPr>
        <p:spPr>
          <a:xfrm>
            <a:off x="4480560" y="347472"/>
            <a:ext cx="32918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PLURICULTURALIDAD · BOLIVIA</a:t>
            </a:r>
            <a:endParaRPr lang="en-US" sz="1000" dirty="0"/>
          </a:p>
        </p:txBody>
      </p:sp>
      <p:sp>
        <p:nvSpPr>
          <p:cNvPr id="6" name="Text 0"/>
          <p:cNvSpPr/>
          <p:nvPr>
            <p:ph idx="100" type="title" hasCustomPrompt="1"/>
          </p:nvPr>
        </p:nvSpPr>
        <p:spPr>
          <a:xfrm>
            <a:off x="4480560" y="777240"/>
            <a:ext cx="4251960" cy="82296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Bolivia: un Estado Plurinacional</a:t>
            </a:r>
            <a:endParaRPr lang="en-US" sz="2400" dirty="0"/>
          </a:p>
        </p:txBody>
      </p:sp>
      <p:sp>
        <p:nvSpPr>
          <p:cNvPr id="7" name="Descripción"/>
          <p:cNvSpPr txBox="1"/>
          <p:nvPr/>
        </p:nvSpPr>
        <p:spPr>
          <a:xfrm>
            <a:off x="4480560" y="1691640"/>
            <a:ext cx="4251960" cy="1051560"/>
          </a:xfrm>
          <a:prstGeom prst="rect">
            <a:avLst/>
          </a:prstGeom>
          <a:noFill/>
          <a:ln/>
        </p:spPr>
        <p:txBody>
          <a:bodyPr wrap="square" lIns="0" tIns="0" rIns="0" bIns="0" rtlCol="0" anchor="t"/>
          <a:lstStyle/>
          <a:p>
            <a:pPr indent="0" marL="0">
              <a:buNone/>
            </a:pPr>
            <a:r>
              <a:rPr lang="en-US" sz="1350" dirty="0">
                <a:solidFill>
                  <a:schemeClr val="tx2"/>
                </a:solidFill>
              </a:rPr>
              <a:t>Con la Constitución de 2009, Bolivia pasó de «República» a «Estado Plurinacional». Reconoce 36 pueblos indígenas y sus lenguas como oficiales, junto al castellano. La Wiphala es símbolo del Estado, igual que la bandera tricolor.</a:t>
            </a:r>
            <a:endParaRPr lang="en-US" sz="1350" dirty="0"/>
          </a:p>
        </p:txBody>
      </p:sp>
      <p:sp>
        <p:nvSpPr>
          <p:cNvPr id="8" name="Número idea 1"/>
          <p:cNvSpPr txBox="1"/>
          <p:nvPr/>
        </p:nvSpPr>
        <p:spPr>
          <a:xfrm>
            <a:off x="4480560" y="2871216"/>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Idea clave 1"/>
          <p:cNvSpPr txBox="1"/>
          <p:nvPr/>
        </p:nvSpPr>
        <p:spPr>
          <a:xfrm>
            <a:off x="4937760" y="2834640"/>
            <a:ext cx="3794760" cy="603504"/>
          </a:xfrm>
          <a:prstGeom prst="rect">
            <a:avLst/>
          </a:prstGeom>
          <a:noFill/>
          <a:ln/>
        </p:spPr>
        <p:txBody>
          <a:bodyPr wrap="square" lIns="0" tIns="0" rIns="0" bIns="0" rtlCol="0" anchor="t"/>
          <a:lstStyle/>
          <a:p>
            <a:pPr indent="0" marL="0">
              <a:buNone/>
            </a:pPr>
            <a:r>
              <a:rPr lang="en-US" sz="1300" b="1" dirty="0">
                <a:solidFill>
                  <a:schemeClr val="accent2"/>
                </a:solidFill>
              </a:rPr>
              <a:t>Reconocimiento legal: </a:t>
            </a:r>
            <a:pPr indent="0" marL="0">
              <a:buNone/>
            </a:pPr>
            <a:r>
              <a:rPr lang="en-US" sz="1300" dirty="0">
                <a:solidFill>
                  <a:schemeClr val="tx2"/>
                </a:solidFill>
              </a:rPr>
              <a:t>la diversidad queda escrita en la ley.</a:t>
            </a:r>
            <a:endParaRPr lang="en-US" sz="1300" dirty="0"/>
          </a:p>
        </p:txBody>
      </p:sp>
      <p:sp>
        <p:nvSpPr>
          <p:cNvPr id="10" name="Número idea 2"/>
          <p:cNvSpPr txBox="1"/>
          <p:nvPr/>
        </p:nvSpPr>
        <p:spPr>
          <a:xfrm>
            <a:off x="4480560" y="3529584"/>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Idea clave 2"/>
          <p:cNvSpPr txBox="1"/>
          <p:nvPr/>
        </p:nvSpPr>
        <p:spPr>
          <a:xfrm>
            <a:off x="4937760" y="3493008"/>
            <a:ext cx="3794760" cy="603504"/>
          </a:xfrm>
          <a:prstGeom prst="rect">
            <a:avLst/>
          </a:prstGeom>
          <a:noFill/>
          <a:ln/>
        </p:spPr>
        <p:txBody>
          <a:bodyPr wrap="square" lIns="0" tIns="0" rIns="0" bIns="0" rtlCol="0" anchor="t"/>
          <a:lstStyle/>
          <a:p>
            <a:pPr indent="0" marL="0">
              <a:buNone/>
            </a:pPr>
            <a:r>
              <a:rPr lang="en-US" sz="1300" b="1" dirty="0">
                <a:solidFill>
                  <a:schemeClr val="accent2"/>
                </a:solidFill>
              </a:rPr>
              <a:t>Varias naciones: </a:t>
            </a:r>
            <a:pPr indent="0" marL="0">
              <a:buNone/>
            </a:pPr>
            <a:r>
              <a:rPr lang="en-US" sz="1300" dirty="0">
                <a:solidFill>
                  <a:schemeClr val="tx2"/>
                </a:solidFill>
              </a:rPr>
              <a:t>aymaras, quechuas, guaraníes y otros pueblos en un mismo país.</a:t>
            </a:r>
            <a:endParaRPr lang="en-US" sz="1300" dirty="0"/>
          </a:p>
        </p:txBody>
      </p:sp>
      <p:sp>
        <p:nvSpPr>
          <p:cNvPr id="12" name="Número idea 3"/>
          <p:cNvSpPr txBox="1"/>
          <p:nvPr/>
        </p:nvSpPr>
        <p:spPr>
          <a:xfrm>
            <a:off x="4480560" y="4187952"/>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Idea clave 3"/>
          <p:cNvSpPr txBox="1"/>
          <p:nvPr/>
        </p:nvSpPr>
        <p:spPr>
          <a:xfrm>
            <a:off x="4937760" y="4151376"/>
            <a:ext cx="3794760" cy="603504"/>
          </a:xfrm>
          <a:prstGeom prst="rect">
            <a:avLst/>
          </a:prstGeom>
          <a:noFill/>
          <a:ln/>
        </p:spPr>
        <p:txBody>
          <a:bodyPr wrap="square" lIns="0" tIns="0" rIns="0" bIns="0" rtlCol="0" anchor="t"/>
          <a:lstStyle/>
          <a:p>
            <a:pPr indent="0" marL="0">
              <a:buNone/>
            </a:pPr>
            <a:r>
              <a:rPr lang="en-US" sz="1300" b="1" dirty="0">
                <a:solidFill>
                  <a:schemeClr val="accent2"/>
                </a:solidFill>
              </a:rPr>
              <a:t>Derechos colectivos: </a:t>
            </a:r>
            <a:pPr indent="0" marL="0">
              <a:buNone/>
            </a:pPr>
            <a:r>
              <a:rPr lang="en-US" sz="1300" dirty="0">
                <a:solidFill>
                  <a:schemeClr val="tx2"/>
                </a:solidFill>
              </a:rPr>
              <a:t>territorio, autogobierno y justicia propia.</a:t>
            </a:r>
            <a:endParaRPr lang="en-US" sz="13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Foto" descr="Cholita en La Paz, Bolivia">    </p:cNvPr>
          <p:cNvPicPr>
            <a:picLocks noChangeAspect="1"/>
          </p:cNvPicPr>
          <p:nvPr/>
        </p:nvPicPr>
        <p:blipFill>
          <a:blip r:embed="rId1"/>
          <a:stretch>
            <a:fillRect/>
          </a:stretch>
        </p:blipFill>
        <p:spPr>
          <a:xfrm>
            <a:off x="5120640" y="0"/>
            <a:ext cx="4023360" cy="5143500"/>
          </a:xfrm>
          <a:prstGeom prst="rect">
            <a:avLst/>
          </a:prstGeom>
        </p:spPr>
      </p:pic>
      <p:sp>
        <p:nvSpPr>
          <p:cNvPr id="3" name="Fondo pie de foto"/>
          <p:cNvSpPr/>
          <p:nvPr/>
        </p:nvSpPr>
        <p:spPr>
          <a:xfrm>
            <a:off x="5120640" y="4850892"/>
            <a:ext cx="4023360" cy="292608"/>
          </a:xfrm>
          <a:prstGeom prst="rect">
            <a:avLst/>
          </a:prstGeom>
          <a:solidFill>
            <a:schemeClr val="tx1">
              <a:alpha val="65000"/>
            </a:schemeClr>
          </a:solidFill>
          <a:ln/>
        </p:spPr>
      </p:sp>
      <p:sp>
        <p:nvSpPr>
          <p:cNvPr id="4" name="Pie de foto"/>
          <p:cNvSpPr txBox="1"/>
          <p:nvPr/>
        </p:nvSpPr>
        <p:spPr>
          <a:xfrm>
            <a:off x="5230368" y="4850892"/>
            <a:ext cx="3803904" cy="292608"/>
          </a:xfrm>
          <a:prstGeom prst="rect">
            <a:avLst/>
          </a:prstGeom>
          <a:noFill/>
          <a:ln/>
        </p:spPr>
        <p:txBody>
          <a:bodyPr wrap="square" lIns="0" tIns="0" rIns="0" bIns="0" rtlCol="0" anchor="ctr"/>
          <a:lstStyle/>
          <a:p>
            <a:pPr indent="0" marL="0">
              <a:buNone/>
            </a:pPr>
            <a:r>
              <a:rPr lang="en-US" sz="900" dirty="0">
                <a:solidFill>
                  <a:schemeClr val="bg1"/>
                </a:solidFill>
              </a:rPr>
              <a:t>Cholita en La Paz, Bolivia</a:t>
            </a:r>
            <a:endParaRPr lang="en-US" sz="900" dirty="0"/>
          </a:p>
        </p:txBody>
      </p:sp>
      <p:sp>
        <p:nvSpPr>
          <p:cNvPr id="5" name="Etiqueta"/>
          <p:cNvSpPr txBox="1"/>
          <p:nvPr/>
        </p:nvSpPr>
        <p:spPr>
          <a:xfrm>
            <a:off x="457200" y="347472"/>
            <a:ext cx="32918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100" kern="0" dirty="0">
                <a:solidFill>
                  <a:schemeClr val="bg1"/>
                </a:solidFill>
              </a:rPr>
              <a:t>PLURICULTURALIDAD · LA PAZ, BOLIVIA</a:t>
            </a:r>
            <a:endParaRPr lang="en-US" sz="1000" dirty="0"/>
          </a:p>
        </p:txBody>
      </p:sp>
      <p:sp>
        <p:nvSpPr>
          <p:cNvPr id="6" name="Text 0"/>
          <p:cNvSpPr/>
          <p:nvPr>
            <p:ph idx="100" type="title" hasCustomPrompt="1"/>
          </p:nvPr>
        </p:nvSpPr>
        <p:spPr>
          <a:xfrm>
            <a:off x="457200" y="777240"/>
            <a:ext cx="4251960" cy="82296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De la exclusión a la visibilidad</a:t>
            </a:r>
            <a:endParaRPr lang="en-US" sz="2400" dirty="0"/>
          </a:p>
        </p:txBody>
      </p:sp>
      <p:sp>
        <p:nvSpPr>
          <p:cNvPr id="7" name="Descripción"/>
          <p:cNvSpPr txBox="1"/>
          <p:nvPr/>
        </p:nvSpPr>
        <p:spPr>
          <a:xfrm>
            <a:off x="457200" y="1691640"/>
            <a:ext cx="4251960" cy="1051560"/>
          </a:xfrm>
          <a:prstGeom prst="rect">
            <a:avLst/>
          </a:prstGeom>
          <a:noFill/>
          <a:ln/>
        </p:spPr>
        <p:txBody>
          <a:bodyPr wrap="square" lIns="0" tIns="0" rIns="0" bIns="0" rtlCol="0" anchor="t"/>
          <a:lstStyle/>
          <a:p>
            <a:pPr indent="0" marL="0">
              <a:buNone/>
            </a:pPr>
            <a:r>
              <a:rPr lang="en-US" sz="1350" dirty="0">
                <a:solidFill>
                  <a:schemeClr val="tx2"/>
                </a:solidFill>
              </a:rPr>
              <a:t>Las «cholitas», mujeres aymaras de pollera y sombrero, fueron discriminadas por mucho tiempo en las ciudades. Hoy ocupan cargos públicos, aparecen en televisión y son símbolo de orgullo en La Paz y El Alto.</a:t>
            </a:r>
            <a:endParaRPr lang="en-US" sz="1350" dirty="0"/>
          </a:p>
        </p:txBody>
      </p:sp>
      <p:sp>
        <p:nvSpPr>
          <p:cNvPr id="8" name="Número idea 1"/>
          <p:cNvSpPr txBox="1"/>
          <p:nvPr/>
        </p:nvSpPr>
        <p:spPr>
          <a:xfrm>
            <a:off x="457200" y="2871216"/>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Idea clave 1"/>
          <p:cNvSpPr txBox="1"/>
          <p:nvPr/>
        </p:nvSpPr>
        <p:spPr>
          <a:xfrm>
            <a:off x="914400" y="2834640"/>
            <a:ext cx="3794760" cy="603504"/>
          </a:xfrm>
          <a:prstGeom prst="rect">
            <a:avLst/>
          </a:prstGeom>
          <a:noFill/>
          <a:ln/>
        </p:spPr>
        <p:txBody>
          <a:bodyPr wrap="square" lIns="0" tIns="0" rIns="0" bIns="0" rtlCol="0" anchor="t"/>
          <a:lstStyle/>
          <a:p>
            <a:pPr indent="0" marL="0">
              <a:buNone/>
            </a:pPr>
            <a:r>
              <a:rPr lang="en-US" sz="1300" b="1" dirty="0">
                <a:solidFill>
                  <a:schemeClr val="accent2"/>
                </a:solidFill>
              </a:rPr>
              <a:t>Identidad: </a:t>
            </a:r>
            <a:pPr indent="0" marL="0">
              <a:buNone/>
            </a:pPr>
            <a:r>
              <a:rPr lang="en-US" sz="1300" dirty="0">
                <a:solidFill>
                  <a:schemeClr val="tx2"/>
                </a:solidFill>
              </a:rPr>
              <a:t>la vestimenta deja de ser motivo de vergüenza.</a:t>
            </a:r>
            <a:endParaRPr lang="en-US" sz="1300" dirty="0"/>
          </a:p>
        </p:txBody>
      </p:sp>
      <p:sp>
        <p:nvSpPr>
          <p:cNvPr id="10" name="Número idea 2"/>
          <p:cNvSpPr txBox="1"/>
          <p:nvPr/>
        </p:nvSpPr>
        <p:spPr>
          <a:xfrm>
            <a:off x="457200" y="3529584"/>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Idea clave 2"/>
          <p:cNvSpPr txBox="1"/>
          <p:nvPr/>
        </p:nvSpPr>
        <p:spPr>
          <a:xfrm>
            <a:off x="914400" y="3493008"/>
            <a:ext cx="3794760" cy="603504"/>
          </a:xfrm>
          <a:prstGeom prst="rect">
            <a:avLst/>
          </a:prstGeom>
          <a:noFill/>
          <a:ln/>
        </p:spPr>
        <p:txBody>
          <a:bodyPr wrap="square" lIns="0" tIns="0" rIns="0" bIns="0" rtlCol="0" anchor="t"/>
          <a:lstStyle/>
          <a:p>
            <a:pPr indent="0" marL="0">
              <a:buNone/>
            </a:pPr>
            <a:r>
              <a:rPr lang="en-US" sz="1300" b="1" dirty="0">
                <a:solidFill>
                  <a:schemeClr val="accent2"/>
                </a:solidFill>
              </a:rPr>
              <a:t>Pluralidad: </a:t>
            </a:r>
            <a:pPr indent="0" marL="0">
              <a:buNone/>
            </a:pPr>
            <a:r>
              <a:rPr lang="en-US" sz="1300" dirty="0">
                <a:solidFill>
                  <a:schemeClr val="tx2"/>
                </a:solidFill>
              </a:rPr>
              <a:t>varias culturas con presencia propia en lo público.</a:t>
            </a:r>
            <a:endParaRPr lang="en-US" sz="1300" dirty="0"/>
          </a:p>
        </p:txBody>
      </p:sp>
      <p:sp>
        <p:nvSpPr>
          <p:cNvPr id="12" name="Número idea 3"/>
          <p:cNvSpPr txBox="1"/>
          <p:nvPr/>
        </p:nvSpPr>
        <p:spPr>
          <a:xfrm>
            <a:off x="457200" y="4187952"/>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Idea clave 3"/>
          <p:cNvSpPr txBox="1"/>
          <p:nvPr/>
        </p:nvSpPr>
        <p:spPr>
          <a:xfrm>
            <a:off x="914400" y="4151376"/>
            <a:ext cx="3794760" cy="603504"/>
          </a:xfrm>
          <a:prstGeom prst="rect">
            <a:avLst/>
          </a:prstGeom>
          <a:noFill/>
          <a:ln/>
        </p:spPr>
        <p:txBody>
          <a:bodyPr wrap="square" lIns="0" tIns="0" rIns="0" bIns="0" rtlCol="0" anchor="t"/>
          <a:lstStyle/>
          <a:p>
            <a:pPr indent="0" marL="0">
              <a:buNone/>
            </a:pPr>
            <a:r>
              <a:rPr lang="en-US" sz="1300" b="1" dirty="0">
                <a:solidFill>
                  <a:schemeClr val="accent2"/>
                </a:solidFill>
              </a:rPr>
              <a:t>Reto: </a:t>
            </a:r>
            <a:pPr indent="0" marL="0">
              <a:buNone/>
            </a:pPr>
            <a:r>
              <a:rPr lang="en-US" sz="1300" dirty="0">
                <a:solidFill>
                  <a:schemeClr val="tx2"/>
                </a:solidFill>
              </a:rPr>
              <a:t>reconocer en la ley no borra de inmediato el racismo cotidiano.</a:t>
            </a:r>
            <a:endParaRPr lang="en-US" sz="13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Foto" descr="Danzas en la Guelaguetza, Oaxaca">    </p:cNvPr>
          <p:cNvPicPr>
            <a:picLocks noChangeAspect="1"/>
          </p:cNvPicPr>
          <p:nvPr/>
        </p:nvPicPr>
        <p:blipFill>
          <a:blip r:embed="rId1"/>
          <a:stretch>
            <a:fillRect/>
          </a:stretch>
        </p:blipFill>
        <p:spPr>
          <a:xfrm>
            <a:off x="0" y="0"/>
            <a:ext cx="4023360" cy="5143500"/>
          </a:xfrm>
          <a:prstGeom prst="rect">
            <a:avLst/>
          </a:prstGeom>
        </p:spPr>
      </p:pic>
      <p:sp>
        <p:nvSpPr>
          <p:cNvPr id="3" name="Fondo pie de foto"/>
          <p:cNvSpPr/>
          <p:nvPr/>
        </p:nvSpPr>
        <p:spPr>
          <a:xfrm>
            <a:off x="0" y="4850892"/>
            <a:ext cx="4023360" cy="292608"/>
          </a:xfrm>
          <a:prstGeom prst="rect">
            <a:avLst/>
          </a:prstGeom>
          <a:solidFill>
            <a:schemeClr val="tx1">
              <a:alpha val="65000"/>
            </a:schemeClr>
          </a:solidFill>
          <a:ln/>
        </p:spPr>
      </p:sp>
      <p:sp>
        <p:nvSpPr>
          <p:cNvPr id="4" name="Pie de foto"/>
          <p:cNvSpPr txBox="1"/>
          <p:nvPr/>
        </p:nvSpPr>
        <p:spPr>
          <a:xfrm>
            <a:off x="109728" y="4850892"/>
            <a:ext cx="3803904" cy="292608"/>
          </a:xfrm>
          <a:prstGeom prst="rect">
            <a:avLst/>
          </a:prstGeom>
          <a:noFill/>
          <a:ln/>
        </p:spPr>
        <p:txBody>
          <a:bodyPr wrap="square" lIns="0" tIns="0" rIns="0" bIns="0" rtlCol="0" anchor="ctr"/>
          <a:lstStyle/>
          <a:p>
            <a:pPr indent="0" marL="0">
              <a:buNone/>
            </a:pPr>
            <a:r>
              <a:rPr lang="en-US" sz="900" dirty="0">
                <a:solidFill>
                  <a:schemeClr val="bg1"/>
                </a:solidFill>
              </a:rPr>
              <a:t>Danzas en la Guelaguetza, Oaxaca</a:t>
            </a:r>
            <a:endParaRPr lang="en-US" sz="900" dirty="0"/>
          </a:p>
        </p:txBody>
      </p:sp>
      <p:sp>
        <p:nvSpPr>
          <p:cNvPr id="5" name="Etiqueta"/>
          <p:cNvSpPr txBox="1"/>
          <p:nvPr/>
        </p:nvSpPr>
        <p:spPr>
          <a:xfrm>
            <a:off x="4480560" y="347472"/>
            <a:ext cx="329184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00" kern="0" dirty="0">
                <a:solidFill>
                  <a:schemeClr val="bg1"/>
                </a:solidFill>
              </a:rPr>
              <a:t>INTERCULTURALIDAD · OAXACA, MÉXICO</a:t>
            </a:r>
            <a:endParaRPr lang="en-US" sz="1000" dirty="0"/>
          </a:p>
        </p:txBody>
      </p:sp>
      <p:sp>
        <p:nvSpPr>
          <p:cNvPr id="6" name="Text 0"/>
          <p:cNvSpPr/>
          <p:nvPr>
            <p:ph idx="100" type="title" hasCustomPrompt="1"/>
          </p:nvPr>
        </p:nvSpPr>
        <p:spPr>
          <a:xfrm>
            <a:off x="4480560" y="777240"/>
            <a:ext cx="4251960" cy="82296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La Guelaguetza: dar y recibir</a:t>
            </a:r>
            <a:endParaRPr lang="en-US" sz="2400" dirty="0"/>
          </a:p>
        </p:txBody>
      </p:sp>
      <p:sp>
        <p:nvSpPr>
          <p:cNvPr id="7" name="Descripción"/>
          <p:cNvSpPr txBox="1"/>
          <p:nvPr/>
        </p:nvSpPr>
        <p:spPr>
          <a:xfrm>
            <a:off x="4480560" y="1691640"/>
            <a:ext cx="4251960" cy="1051560"/>
          </a:xfrm>
          <a:prstGeom prst="rect">
            <a:avLst/>
          </a:prstGeom>
          <a:noFill/>
          <a:ln/>
        </p:spPr>
        <p:txBody>
          <a:bodyPr wrap="square" lIns="0" tIns="0" rIns="0" bIns="0" rtlCol="0" anchor="t"/>
          <a:lstStyle/>
          <a:p>
            <a:pPr indent="0" marL="0">
              <a:buNone/>
            </a:pPr>
            <a:r>
              <a:rPr lang="en-US" sz="1350" dirty="0">
                <a:solidFill>
                  <a:schemeClr val="tx2"/>
                </a:solidFill>
              </a:rPr>
              <a:t>«Guelaguetza» es una palabra zapoteca que significa ofrenda o ayuda mutua. Cada julio, las ocho regiones de Oaxaca comparten sus danzas, su música y sus productos con vecinos y visitantes en el cerro del Fortín.</a:t>
            </a:r>
            <a:endParaRPr lang="en-US" sz="1350" dirty="0"/>
          </a:p>
        </p:txBody>
      </p:sp>
      <p:sp>
        <p:nvSpPr>
          <p:cNvPr id="8" name="Número idea 1"/>
          <p:cNvSpPr txBox="1"/>
          <p:nvPr/>
        </p:nvSpPr>
        <p:spPr>
          <a:xfrm>
            <a:off x="4480560" y="2871216"/>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Idea clave 1"/>
          <p:cNvSpPr txBox="1"/>
          <p:nvPr/>
        </p:nvSpPr>
        <p:spPr>
          <a:xfrm>
            <a:off x="4937760" y="2834640"/>
            <a:ext cx="3794760" cy="603504"/>
          </a:xfrm>
          <a:prstGeom prst="rect">
            <a:avLst/>
          </a:prstGeom>
          <a:noFill/>
          <a:ln/>
        </p:spPr>
        <p:txBody>
          <a:bodyPr wrap="square" lIns="0" tIns="0" rIns="0" bIns="0" rtlCol="0" anchor="t"/>
          <a:lstStyle/>
          <a:p>
            <a:pPr indent="0" marL="0">
              <a:buNone/>
            </a:pPr>
            <a:r>
              <a:rPr lang="en-US" sz="1300" b="1" dirty="0">
                <a:solidFill>
                  <a:schemeClr val="accent3"/>
                </a:solidFill>
              </a:rPr>
              <a:t>Intercambio: </a:t>
            </a:r>
            <a:pPr indent="0" marL="0">
              <a:buNone/>
            </a:pPr>
            <a:r>
              <a:rPr lang="en-US" sz="1300" dirty="0">
                <a:solidFill>
                  <a:schemeClr val="tx2"/>
                </a:solidFill>
              </a:rPr>
              <a:t>las culturas no solo se muestran: se encuentran.</a:t>
            </a:r>
            <a:endParaRPr lang="en-US" sz="1300" dirty="0"/>
          </a:p>
        </p:txBody>
      </p:sp>
      <p:sp>
        <p:nvSpPr>
          <p:cNvPr id="10" name="Número idea 2"/>
          <p:cNvSpPr txBox="1"/>
          <p:nvPr/>
        </p:nvSpPr>
        <p:spPr>
          <a:xfrm>
            <a:off x="4480560" y="3529584"/>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Idea clave 2"/>
          <p:cNvSpPr txBox="1"/>
          <p:nvPr/>
        </p:nvSpPr>
        <p:spPr>
          <a:xfrm>
            <a:off x="4937760" y="3493008"/>
            <a:ext cx="3794760" cy="603504"/>
          </a:xfrm>
          <a:prstGeom prst="rect">
            <a:avLst/>
          </a:prstGeom>
          <a:noFill/>
          <a:ln/>
        </p:spPr>
        <p:txBody>
          <a:bodyPr wrap="square" lIns="0" tIns="0" rIns="0" bIns="0" rtlCol="0" anchor="t"/>
          <a:lstStyle/>
          <a:p>
            <a:pPr indent="0" marL="0">
              <a:buNone/>
            </a:pPr>
            <a:r>
              <a:rPr lang="en-US" sz="1300" b="1" dirty="0">
                <a:solidFill>
                  <a:schemeClr val="accent3"/>
                </a:solidFill>
              </a:rPr>
              <a:t>Reciprocidad: </a:t>
            </a:r>
            <a:pPr indent="0" marL="0">
              <a:buNone/>
            </a:pPr>
            <a:r>
              <a:rPr lang="en-US" sz="1300" dirty="0">
                <a:solidFill>
                  <a:schemeClr val="tx2"/>
                </a:solidFill>
              </a:rPr>
              <a:t>lo que se da, se devuelve.</a:t>
            </a:r>
            <a:endParaRPr lang="en-US" sz="1300" dirty="0"/>
          </a:p>
        </p:txBody>
      </p:sp>
      <p:sp>
        <p:nvSpPr>
          <p:cNvPr id="12" name="Número idea 3"/>
          <p:cNvSpPr txBox="1"/>
          <p:nvPr/>
        </p:nvSpPr>
        <p:spPr>
          <a:xfrm>
            <a:off x="4480560" y="4187952"/>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Idea clave 3"/>
          <p:cNvSpPr txBox="1"/>
          <p:nvPr/>
        </p:nvSpPr>
        <p:spPr>
          <a:xfrm>
            <a:off x="4937760" y="4151376"/>
            <a:ext cx="3794760" cy="603504"/>
          </a:xfrm>
          <a:prstGeom prst="rect">
            <a:avLst/>
          </a:prstGeom>
          <a:noFill/>
          <a:ln/>
        </p:spPr>
        <p:txBody>
          <a:bodyPr wrap="square" lIns="0" tIns="0" rIns="0" bIns="0" rtlCol="0" anchor="t"/>
          <a:lstStyle/>
          <a:p>
            <a:pPr indent="0" marL="0">
              <a:buNone/>
            </a:pPr>
            <a:r>
              <a:rPr lang="en-US" sz="1300" b="1" dirty="0">
                <a:solidFill>
                  <a:schemeClr val="accent3"/>
                </a:solidFill>
              </a:rPr>
              <a:t>Diálogo entre iguales: </a:t>
            </a:r>
            <a:pPr indent="0" marL="0">
              <a:buNone/>
            </a:pPr>
            <a:r>
              <a:rPr lang="en-US" sz="1300" dirty="0">
                <a:solidFill>
                  <a:schemeClr val="tx2"/>
                </a:solidFill>
              </a:rPr>
              <a:t>ninguna región vale más que otra.</a:t>
            </a:r>
            <a:endParaRPr lang="en-US" sz="13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Foto" descr="Universidad Veracruzana Intercultural, Altas Montañas">    </p:cNvPr>
          <p:cNvPicPr>
            <a:picLocks noChangeAspect="1"/>
          </p:cNvPicPr>
          <p:nvPr/>
        </p:nvPicPr>
        <p:blipFill>
          <a:blip r:embed="rId1"/>
          <a:stretch>
            <a:fillRect/>
          </a:stretch>
        </p:blipFill>
        <p:spPr>
          <a:xfrm>
            <a:off x="5120640" y="0"/>
            <a:ext cx="4023360" cy="5143500"/>
          </a:xfrm>
          <a:prstGeom prst="rect">
            <a:avLst/>
          </a:prstGeom>
        </p:spPr>
      </p:pic>
      <p:sp>
        <p:nvSpPr>
          <p:cNvPr id="3" name="Fondo pie de foto"/>
          <p:cNvSpPr/>
          <p:nvPr/>
        </p:nvSpPr>
        <p:spPr>
          <a:xfrm>
            <a:off x="5120640" y="4850892"/>
            <a:ext cx="4023360" cy="292608"/>
          </a:xfrm>
          <a:prstGeom prst="rect">
            <a:avLst/>
          </a:prstGeom>
          <a:solidFill>
            <a:schemeClr val="tx1">
              <a:alpha val="65000"/>
            </a:schemeClr>
          </a:solidFill>
          <a:ln/>
        </p:spPr>
      </p:sp>
      <p:sp>
        <p:nvSpPr>
          <p:cNvPr id="4" name="Pie de foto"/>
          <p:cNvSpPr txBox="1"/>
          <p:nvPr/>
        </p:nvSpPr>
        <p:spPr>
          <a:xfrm>
            <a:off x="5230368" y="4850892"/>
            <a:ext cx="3803904" cy="292608"/>
          </a:xfrm>
          <a:prstGeom prst="rect">
            <a:avLst/>
          </a:prstGeom>
          <a:noFill/>
          <a:ln/>
        </p:spPr>
        <p:txBody>
          <a:bodyPr wrap="square" lIns="0" tIns="0" rIns="0" bIns="0" rtlCol="0" anchor="ctr"/>
          <a:lstStyle/>
          <a:p>
            <a:pPr indent="0" marL="0">
              <a:buNone/>
            </a:pPr>
            <a:r>
              <a:rPr lang="en-US" sz="900" dirty="0">
                <a:solidFill>
                  <a:schemeClr val="bg1"/>
                </a:solidFill>
              </a:rPr>
              <a:t>Universidad Veracruzana Intercultural, Altas Montañas</a:t>
            </a:r>
            <a:endParaRPr lang="en-US" sz="900" dirty="0"/>
          </a:p>
        </p:txBody>
      </p:sp>
      <p:sp>
        <p:nvSpPr>
          <p:cNvPr id="5" name="Etiqueta"/>
          <p:cNvSpPr txBox="1"/>
          <p:nvPr/>
        </p:nvSpPr>
        <p:spPr>
          <a:xfrm>
            <a:off x="457200" y="347472"/>
            <a:ext cx="329184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00" kern="0" dirty="0">
                <a:solidFill>
                  <a:schemeClr val="bg1"/>
                </a:solidFill>
              </a:rPr>
              <a:t>INTERCULTURALIDAD · VERACRUZ, MÉXICO</a:t>
            </a:r>
            <a:endParaRPr lang="en-US" sz="1000" dirty="0"/>
          </a:p>
        </p:txBody>
      </p:sp>
      <p:sp>
        <p:nvSpPr>
          <p:cNvPr id="6" name="Text 0"/>
          <p:cNvSpPr/>
          <p:nvPr>
            <p:ph idx="100" type="title" hasCustomPrompt="1"/>
          </p:nvPr>
        </p:nvSpPr>
        <p:spPr>
          <a:xfrm>
            <a:off x="457200" y="777240"/>
            <a:ext cx="4251960" cy="82296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Aprender en dos mundos</a:t>
            </a:r>
            <a:endParaRPr lang="en-US" sz="2400" dirty="0"/>
          </a:p>
        </p:txBody>
      </p:sp>
      <p:sp>
        <p:nvSpPr>
          <p:cNvPr id="7" name="Descripción"/>
          <p:cNvSpPr txBox="1"/>
          <p:nvPr/>
        </p:nvSpPr>
        <p:spPr>
          <a:xfrm>
            <a:off x="457200" y="1691640"/>
            <a:ext cx="4251960" cy="1051560"/>
          </a:xfrm>
          <a:prstGeom prst="rect">
            <a:avLst/>
          </a:prstGeom>
          <a:noFill/>
          <a:ln/>
        </p:spPr>
        <p:txBody>
          <a:bodyPr wrap="square" lIns="0" tIns="0" rIns="0" bIns="0" rtlCol="0" anchor="t"/>
          <a:lstStyle/>
          <a:p>
            <a:pPr indent="0" marL="0">
              <a:buNone/>
            </a:pPr>
            <a:r>
              <a:rPr lang="en-US" sz="1350" dirty="0">
                <a:solidFill>
                  <a:schemeClr val="tx2"/>
                </a:solidFill>
              </a:rPr>
              <a:t>Desde 2004, México abrió universidades interculturales en regiones indígenas. En la sede de las montañas de Veracruz se estudia en náhuatl y en español, y los saberes de la comunidad dialogan con la ciencia escolar.</a:t>
            </a:r>
            <a:endParaRPr lang="en-US" sz="1350" dirty="0"/>
          </a:p>
        </p:txBody>
      </p:sp>
      <p:sp>
        <p:nvSpPr>
          <p:cNvPr id="8" name="Número idea 1"/>
          <p:cNvSpPr txBox="1"/>
          <p:nvPr/>
        </p:nvSpPr>
        <p:spPr>
          <a:xfrm>
            <a:off x="457200" y="2871216"/>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Idea clave 1"/>
          <p:cNvSpPr txBox="1"/>
          <p:nvPr/>
        </p:nvSpPr>
        <p:spPr>
          <a:xfrm>
            <a:off x="914400" y="2834640"/>
            <a:ext cx="3794760" cy="603504"/>
          </a:xfrm>
          <a:prstGeom prst="rect">
            <a:avLst/>
          </a:prstGeom>
          <a:noFill/>
          <a:ln/>
        </p:spPr>
        <p:txBody>
          <a:bodyPr wrap="square" lIns="0" tIns="0" rIns="0" bIns="0" rtlCol="0" anchor="t"/>
          <a:lstStyle/>
          <a:p>
            <a:pPr indent="0" marL="0">
              <a:buNone/>
            </a:pPr>
            <a:r>
              <a:rPr lang="en-US" sz="1300" b="1" dirty="0">
                <a:solidFill>
                  <a:schemeClr val="accent3"/>
                </a:solidFill>
              </a:rPr>
              <a:t>Diálogo de saberes: </a:t>
            </a:r>
            <a:pPr indent="0" marL="0">
              <a:buNone/>
            </a:pPr>
            <a:r>
              <a:rPr lang="en-US" sz="1300" dirty="0">
                <a:solidFill>
                  <a:schemeClr val="tx2"/>
                </a:solidFill>
              </a:rPr>
              <a:t>medicina tradicional, agricultura y lengua entran al aula.</a:t>
            </a:r>
            <a:endParaRPr lang="en-US" sz="1300" dirty="0"/>
          </a:p>
        </p:txBody>
      </p:sp>
      <p:sp>
        <p:nvSpPr>
          <p:cNvPr id="10" name="Número idea 2"/>
          <p:cNvSpPr txBox="1"/>
          <p:nvPr/>
        </p:nvSpPr>
        <p:spPr>
          <a:xfrm>
            <a:off x="457200" y="3529584"/>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Idea clave 2"/>
          <p:cNvSpPr txBox="1"/>
          <p:nvPr/>
        </p:nvSpPr>
        <p:spPr>
          <a:xfrm>
            <a:off x="914400" y="3493008"/>
            <a:ext cx="3794760" cy="603504"/>
          </a:xfrm>
          <a:prstGeom prst="rect">
            <a:avLst/>
          </a:prstGeom>
          <a:noFill/>
          <a:ln/>
        </p:spPr>
        <p:txBody>
          <a:bodyPr wrap="square" lIns="0" tIns="0" rIns="0" bIns="0" rtlCol="0" anchor="t"/>
          <a:lstStyle/>
          <a:p>
            <a:pPr indent="0" marL="0">
              <a:buNone/>
            </a:pPr>
            <a:r>
              <a:rPr lang="en-US" sz="1300" b="1" dirty="0">
                <a:solidFill>
                  <a:schemeClr val="accent3"/>
                </a:solidFill>
              </a:rPr>
              <a:t>Respeto mutuo: </a:t>
            </a:r>
            <a:pPr indent="0" marL="0">
              <a:buNone/>
            </a:pPr>
            <a:r>
              <a:rPr lang="en-US" sz="1300" dirty="0">
                <a:solidFill>
                  <a:schemeClr val="tx2"/>
                </a:solidFill>
              </a:rPr>
              <a:t>ningún conocimiento se impone sobre el otro.</a:t>
            </a:r>
            <a:endParaRPr lang="en-US" sz="1300" dirty="0"/>
          </a:p>
        </p:txBody>
      </p:sp>
      <p:sp>
        <p:nvSpPr>
          <p:cNvPr id="12" name="Número idea 3"/>
          <p:cNvSpPr txBox="1"/>
          <p:nvPr/>
        </p:nvSpPr>
        <p:spPr>
          <a:xfrm>
            <a:off x="457200" y="4187952"/>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Idea clave 3"/>
          <p:cNvSpPr txBox="1"/>
          <p:nvPr/>
        </p:nvSpPr>
        <p:spPr>
          <a:xfrm>
            <a:off x="914400" y="4151376"/>
            <a:ext cx="3794760" cy="603504"/>
          </a:xfrm>
          <a:prstGeom prst="rect">
            <a:avLst/>
          </a:prstGeom>
          <a:noFill/>
          <a:ln/>
        </p:spPr>
        <p:txBody>
          <a:bodyPr wrap="square" lIns="0" tIns="0" rIns="0" bIns="0" rtlCol="0" anchor="t"/>
          <a:lstStyle/>
          <a:p>
            <a:pPr indent="0" marL="0">
              <a:buNone/>
            </a:pPr>
            <a:r>
              <a:rPr lang="en-US" sz="1300" b="1" dirty="0">
                <a:solidFill>
                  <a:schemeClr val="accent3"/>
                </a:solidFill>
              </a:rPr>
              <a:t>Transformación: </a:t>
            </a:r>
            <a:pPr indent="0" marL="0">
              <a:buNone/>
            </a:pPr>
            <a:r>
              <a:rPr lang="en-US" sz="1300" dirty="0">
                <a:solidFill>
                  <a:schemeClr val="tx2"/>
                </a:solidFill>
              </a:rPr>
              <a:t>las dos partes aprenden y cambian.</a:t>
            </a:r>
            <a:endParaRPr lang="en-US" sz="13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Si fuera extranjero: tres viajes, tres Méxicos</a:t>
            </a:r>
            <a:endParaRPr lang="en-US" sz="3000" dirty="0"/>
          </a:p>
        </p:txBody>
      </p:sp>
      <p:pic>
        <p:nvPicPr>
          <p:cNvPr id="3" name="Foto Cancún" descr="Zona hotelera de Cancún">    </p:cNvPr>
          <p:cNvPicPr>
            <a:picLocks noChangeAspect="1"/>
          </p:cNvPicPr>
          <p:nvPr/>
        </p:nvPicPr>
        <p:blipFill>
          <a:blip r:embed="rId1"/>
          <a:stretch>
            <a:fillRect/>
          </a:stretch>
        </p:blipFill>
        <p:spPr>
          <a:xfrm>
            <a:off x="457200" y="1097280"/>
            <a:ext cx="2606040" cy="1737360"/>
          </a:xfrm>
          <a:prstGeom prst="rect">
            <a:avLst/>
          </a:prstGeom>
        </p:spPr>
      </p:pic>
      <p:sp>
        <p:nvSpPr>
          <p:cNvPr id="4" name="Etiqueta Multicultural"/>
          <p:cNvSpPr txBox="1"/>
          <p:nvPr/>
        </p:nvSpPr>
        <p:spPr>
          <a:xfrm>
            <a:off x="566928" y="1207008"/>
            <a:ext cx="132588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bg1"/>
                </a:solidFill>
              </a:rPr>
              <a:t>Multicultural</a:t>
            </a:r>
            <a:endParaRPr lang="en-US" sz="1000" dirty="0"/>
          </a:p>
        </p:txBody>
      </p:sp>
      <p:sp>
        <p:nvSpPr>
          <p:cNvPr id="5" name="Lugar"/>
          <p:cNvSpPr txBox="1"/>
          <p:nvPr/>
        </p:nvSpPr>
        <p:spPr>
          <a:xfrm>
            <a:off x="457200" y="2971800"/>
            <a:ext cx="2606040" cy="347472"/>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Cancún</a:t>
            </a:r>
            <a:endParaRPr lang="en-US" sz="1700" dirty="0"/>
          </a:p>
        </p:txBody>
      </p:sp>
      <p:sp>
        <p:nvSpPr>
          <p:cNvPr id="6" name="Descripción lugar"/>
          <p:cNvSpPr txBox="1"/>
          <p:nvPr/>
        </p:nvSpPr>
        <p:spPr>
          <a:xfrm>
            <a:off x="457200" y="3337560"/>
            <a:ext cx="2606040" cy="1188720"/>
          </a:xfrm>
          <a:prstGeom prst="rect">
            <a:avLst/>
          </a:prstGeom>
          <a:noFill/>
          <a:ln/>
        </p:spPr>
        <p:txBody>
          <a:bodyPr wrap="square" lIns="0" tIns="0" rIns="0" bIns="0" rtlCol="0" anchor="t"/>
          <a:lstStyle/>
          <a:p>
            <a:pPr indent="0" marL="0">
              <a:buNone/>
            </a:pPr>
            <a:r>
              <a:rPr lang="en-US" sz="1300" dirty="0">
                <a:solidFill>
                  <a:schemeClr val="tx2"/>
                </a:solidFill>
              </a:rPr>
              <a:t>Turismo global: inglés en todas partes, hoteles internacionales y la cultura maya convertida en espectáculo. Un México «para exportar».</a:t>
            </a:r>
            <a:endParaRPr lang="en-US" sz="1300" dirty="0"/>
          </a:p>
        </p:txBody>
      </p:sp>
      <p:sp>
        <p:nvSpPr>
          <p:cNvPr id="7" name="Crédito"/>
          <p:cNvSpPr txBox="1"/>
          <p:nvPr/>
        </p:nvSpPr>
        <p:spPr>
          <a:xfrm>
            <a:off x="457200" y="4553712"/>
            <a:ext cx="2606040" cy="228600"/>
          </a:xfrm>
          <a:prstGeom prst="rect">
            <a:avLst/>
          </a:prstGeom>
          <a:noFill/>
          <a:ln/>
        </p:spPr>
        <p:txBody>
          <a:bodyPr wrap="square" lIns="0" tIns="0" rIns="0" bIns="0" rtlCol="0" anchor="ctr"/>
          <a:lstStyle/>
          <a:p>
            <a:pPr indent="0" marL="0">
              <a:buNone/>
            </a:pPr>
            <a:r>
              <a:rPr lang="en-US" sz="900" dirty="0">
                <a:solidFill>
                  <a:schemeClr val="accent4"/>
                </a:solidFill>
              </a:rPr>
              <a:t>Zona hotelera de Cancún</a:t>
            </a:r>
            <a:endParaRPr lang="en-US" sz="900" dirty="0"/>
          </a:p>
        </p:txBody>
      </p:sp>
      <p:pic>
        <p:nvPicPr>
          <p:cNvPr id="8" name="Foto Ciudad de México" descr="Danzantes en el Zócalo">    </p:cNvPr>
          <p:cNvPicPr>
            <a:picLocks noChangeAspect="1"/>
          </p:cNvPicPr>
          <p:nvPr/>
        </p:nvPicPr>
        <p:blipFill>
          <a:blip r:embed="rId2"/>
          <a:stretch>
            <a:fillRect/>
          </a:stretch>
        </p:blipFill>
        <p:spPr>
          <a:xfrm>
            <a:off x="3291840" y="1097280"/>
            <a:ext cx="2606040" cy="1737360"/>
          </a:xfrm>
          <a:prstGeom prst="rect">
            <a:avLst/>
          </a:prstGeom>
        </p:spPr>
      </p:pic>
      <p:sp>
        <p:nvSpPr>
          <p:cNvPr id="9" name="Etiqueta Multi + inter"/>
          <p:cNvSpPr txBox="1"/>
          <p:nvPr/>
        </p:nvSpPr>
        <p:spPr>
          <a:xfrm>
            <a:off x="3401568" y="1207008"/>
            <a:ext cx="132588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dirty="0">
                <a:solidFill>
                  <a:schemeClr val="bg1"/>
                </a:solidFill>
              </a:rPr>
              <a:t>Multi + inter</a:t>
            </a:r>
            <a:endParaRPr lang="en-US" sz="1000" dirty="0"/>
          </a:p>
        </p:txBody>
      </p:sp>
      <p:sp>
        <p:nvSpPr>
          <p:cNvPr id="10" name="Lugar"/>
          <p:cNvSpPr txBox="1"/>
          <p:nvPr/>
        </p:nvSpPr>
        <p:spPr>
          <a:xfrm>
            <a:off x="3291840" y="2971800"/>
            <a:ext cx="2606040" cy="347472"/>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Ciudad de México</a:t>
            </a:r>
            <a:endParaRPr lang="en-US" sz="1700" dirty="0"/>
          </a:p>
        </p:txBody>
      </p:sp>
      <p:sp>
        <p:nvSpPr>
          <p:cNvPr id="11" name="Descripción lugar"/>
          <p:cNvSpPr txBox="1"/>
          <p:nvPr/>
        </p:nvSpPr>
        <p:spPr>
          <a:xfrm>
            <a:off x="3291840" y="3337560"/>
            <a:ext cx="2606040" cy="1188720"/>
          </a:xfrm>
          <a:prstGeom prst="rect">
            <a:avLst/>
          </a:prstGeom>
          <a:noFill/>
          <a:ln/>
        </p:spPr>
        <p:txBody>
          <a:bodyPr wrap="square" lIns="0" tIns="0" rIns="0" bIns="0" rtlCol="0" anchor="t"/>
          <a:lstStyle/>
          <a:p>
            <a:pPr indent="0" marL="0">
              <a:buNone/>
            </a:pPr>
            <a:r>
              <a:rPr lang="en-US" sz="1300" dirty="0">
                <a:solidFill>
                  <a:schemeClr val="tx2"/>
                </a:solidFill>
              </a:rPr>
              <a:t>Rascacielos, ruinas aztecas, barrios de migrantes y mercados donde todo se mezcla. Una ciudad que es muchas ciudades.</a:t>
            </a:r>
            <a:endParaRPr lang="en-US" sz="1300" dirty="0"/>
          </a:p>
        </p:txBody>
      </p:sp>
      <p:sp>
        <p:nvSpPr>
          <p:cNvPr id="12" name="Crédito"/>
          <p:cNvSpPr txBox="1"/>
          <p:nvPr/>
        </p:nvSpPr>
        <p:spPr>
          <a:xfrm>
            <a:off x="3291840" y="4553712"/>
            <a:ext cx="2606040" cy="228600"/>
          </a:xfrm>
          <a:prstGeom prst="rect">
            <a:avLst/>
          </a:prstGeom>
          <a:noFill/>
          <a:ln/>
        </p:spPr>
        <p:txBody>
          <a:bodyPr wrap="square" lIns="0" tIns="0" rIns="0" bIns="0" rtlCol="0" anchor="ctr"/>
          <a:lstStyle/>
          <a:p>
            <a:pPr indent="0" marL="0">
              <a:buNone/>
            </a:pPr>
            <a:r>
              <a:rPr lang="en-US" sz="900" dirty="0">
                <a:solidFill>
                  <a:schemeClr val="accent4"/>
                </a:solidFill>
              </a:rPr>
              <a:t>Danzantes en el Zócalo</a:t>
            </a:r>
            <a:endParaRPr lang="en-US" sz="900" dirty="0"/>
          </a:p>
        </p:txBody>
      </p:sp>
      <p:pic>
        <p:nvPicPr>
          <p:cNvPr id="13" name="Foto Comunidad rarámuri" descr="Familia rarámuri en Creel">    </p:cNvPr>
          <p:cNvPicPr>
            <a:picLocks noChangeAspect="1"/>
          </p:cNvPicPr>
          <p:nvPr/>
        </p:nvPicPr>
        <p:blipFill>
          <a:blip r:embed="rId3"/>
          <a:stretch>
            <a:fillRect/>
          </a:stretch>
        </p:blipFill>
        <p:spPr>
          <a:xfrm>
            <a:off x="6126480" y="1097280"/>
            <a:ext cx="2606040" cy="1737360"/>
          </a:xfrm>
          <a:prstGeom prst="rect">
            <a:avLst/>
          </a:prstGeom>
        </p:spPr>
      </p:pic>
      <p:sp>
        <p:nvSpPr>
          <p:cNvPr id="14" name="Etiqueta Pluricultural"/>
          <p:cNvSpPr txBox="1"/>
          <p:nvPr/>
        </p:nvSpPr>
        <p:spPr>
          <a:xfrm>
            <a:off x="6236208" y="1207008"/>
            <a:ext cx="132588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Pluricultural</a:t>
            </a:r>
            <a:endParaRPr lang="en-US" sz="1000" dirty="0"/>
          </a:p>
        </p:txBody>
      </p:sp>
      <p:sp>
        <p:nvSpPr>
          <p:cNvPr id="15" name="Lugar"/>
          <p:cNvSpPr txBox="1"/>
          <p:nvPr/>
        </p:nvSpPr>
        <p:spPr>
          <a:xfrm>
            <a:off x="6126480" y="2971800"/>
            <a:ext cx="2606040" cy="347472"/>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Comunidad rarámuri</a:t>
            </a:r>
            <a:endParaRPr lang="en-US" sz="1700" dirty="0"/>
          </a:p>
        </p:txBody>
      </p:sp>
      <p:sp>
        <p:nvSpPr>
          <p:cNvPr id="16" name="Descripción lugar"/>
          <p:cNvSpPr txBox="1"/>
          <p:nvPr/>
        </p:nvSpPr>
        <p:spPr>
          <a:xfrm>
            <a:off x="6126480" y="3337560"/>
            <a:ext cx="2606040" cy="1188720"/>
          </a:xfrm>
          <a:prstGeom prst="rect">
            <a:avLst/>
          </a:prstGeom>
          <a:noFill/>
          <a:ln/>
        </p:spPr>
        <p:txBody>
          <a:bodyPr wrap="square" lIns="0" tIns="0" rIns="0" bIns="0" rtlCol="0" anchor="t"/>
          <a:lstStyle/>
          <a:p>
            <a:pPr indent="0" marL="0">
              <a:buNone/>
            </a:pPr>
            <a:r>
              <a:rPr lang="en-US" sz="1300" dirty="0">
                <a:solidFill>
                  <a:schemeClr val="tx2"/>
                </a:solidFill>
              </a:rPr>
              <a:t>Sierra Tarahumara, Chihuahua. Lengua propia, autoridades tradicionales y fiestas donde lo católico y lo indígena se juntan.</a:t>
            </a:r>
            <a:endParaRPr lang="en-US" sz="1300" dirty="0"/>
          </a:p>
        </p:txBody>
      </p:sp>
      <p:sp>
        <p:nvSpPr>
          <p:cNvPr id="17" name="Crédito"/>
          <p:cNvSpPr txBox="1"/>
          <p:nvPr/>
        </p:nvSpPr>
        <p:spPr>
          <a:xfrm>
            <a:off x="6126480" y="4553712"/>
            <a:ext cx="2606040" cy="228600"/>
          </a:xfrm>
          <a:prstGeom prst="rect">
            <a:avLst/>
          </a:prstGeom>
          <a:noFill/>
          <a:ln/>
        </p:spPr>
        <p:txBody>
          <a:bodyPr wrap="square" lIns="0" tIns="0" rIns="0" bIns="0" rtlCol="0" anchor="ctr"/>
          <a:lstStyle/>
          <a:p>
            <a:pPr indent="0" marL="0">
              <a:buNone/>
            </a:pPr>
            <a:r>
              <a:rPr lang="en-US" sz="900" dirty="0">
                <a:solidFill>
                  <a:schemeClr val="accent4"/>
                </a:solidFill>
              </a:rPr>
              <a:t>Familia rarámuri en Creel</a:t>
            </a:r>
            <a:endParaRPr lang="en-US" sz="9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Descifrando la Ciudad de México</a:t>
            </a:r>
            <a:endParaRPr lang="en-US" sz="3000" dirty="0"/>
          </a:p>
        </p:txBody>
      </p:sp>
      <p:pic>
        <p:nvPicPr>
          <p:cNvPr id="3" name="Foto Barrio Chino (calle Dolores)" descr="Barrio Chino (calle Dolores)">    </p:cNvPr>
          <p:cNvPicPr>
            <a:picLocks noChangeAspect="1"/>
          </p:cNvPicPr>
          <p:nvPr/>
        </p:nvPicPr>
        <p:blipFill>
          <a:blip r:embed="rId1"/>
          <a:stretch>
            <a:fillRect/>
          </a:stretch>
        </p:blipFill>
        <p:spPr>
          <a:xfrm>
            <a:off x="457200" y="1051560"/>
            <a:ext cx="1783080" cy="1234440"/>
          </a:xfrm>
          <a:prstGeom prst="rect">
            <a:avLst/>
          </a:prstGeom>
        </p:spPr>
      </p:pic>
      <p:sp>
        <p:nvSpPr>
          <p:cNvPr id="4" name="Lugar"/>
          <p:cNvSpPr txBox="1"/>
          <p:nvPr/>
        </p:nvSpPr>
        <p:spPr>
          <a:xfrm>
            <a:off x="2377440" y="1051560"/>
            <a:ext cx="2103120" cy="274320"/>
          </a:xfrm>
          <a:prstGeom prst="rect">
            <a:avLst/>
          </a:prstGeom>
          <a:noFill/>
          <a:ln/>
        </p:spPr>
        <p:txBody>
          <a:bodyPr wrap="square" lIns="0" tIns="0" rIns="0" bIns="0" rtlCol="0" anchor="ctr"/>
          <a:lstStyle/>
          <a:p>
            <a:pPr indent="0" marL="0">
              <a:buNone/>
            </a:pPr>
            <a:r>
              <a:rPr lang="en-US" sz="1400" b="1" dirty="0">
                <a:solidFill>
                  <a:schemeClr val="tx1"/>
                </a:solidFill>
              </a:rPr>
              <a:t>Barrio Chino (calle Dolores)</a:t>
            </a:r>
            <a:endParaRPr lang="en-US" sz="1400" dirty="0"/>
          </a:p>
        </p:txBody>
      </p:sp>
      <p:sp>
        <p:nvSpPr>
          <p:cNvPr id="5" name="Descripción"/>
          <p:cNvSpPr txBox="1"/>
          <p:nvPr/>
        </p:nvSpPr>
        <p:spPr>
          <a:xfrm>
            <a:off x="2377440" y="1353312"/>
            <a:ext cx="2103120" cy="1371600"/>
          </a:xfrm>
          <a:prstGeom prst="rect">
            <a:avLst/>
          </a:prstGeom>
          <a:noFill/>
          <a:ln/>
        </p:spPr>
        <p:txBody>
          <a:bodyPr wrap="square" lIns="0" tIns="0" rIns="0" bIns="0" rtlCol="0" anchor="t"/>
          <a:lstStyle/>
          <a:p>
            <a:pPr indent="0" marL="0">
              <a:buNone/>
            </a:pPr>
            <a:r>
              <a:rPr lang="en-US" sz="1150" dirty="0">
                <a:solidFill>
                  <a:schemeClr val="tx2"/>
                </a:solidFill>
              </a:rPr>
              <a:t>Migrantes chinos desde fines del siglo XIX. Faroles rojos y comida cantonesa… atendida y consumida por mexicanos.</a:t>
            </a:r>
            <a:endParaRPr lang="en-US" sz="1150" dirty="0"/>
          </a:p>
        </p:txBody>
      </p:sp>
      <p:pic>
        <p:nvPicPr>
          <p:cNvPr id="6" name="Foto Comunidad judía (Polanco)" descr="Comunidad judía (Polanco)">    </p:cNvPr>
          <p:cNvPicPr>
            <a:picLocks noChangeAspect="1"/>
          </p:cNvPicPr>
          <p:nvPr/>
        </p:nvPicPr>
        <p:blipFill>
          <a:blip r:embed="rId2"/>
          <a:stretch>
            <a:fillRect/>
          </a:stretch>
        </p:blipFill>
        <p:spPr>
          <a:xfrm>
            <a:off x="4663440" y="1051560"/>
            <a:ext cx="1783080" cy="1234440"/>
          </a:xfrm>
          <a:prstGeom prst="rect">
            <a:avLst/>
          </a:prstGeom>
        </p:spPr>
      </p:pic>
      <p:sp>
        <p:nvSpPr>
          <p:cNvPr id="7" name="Lugar"/>
          <p:cNvSpPr txBox="1"/>
          <p:nvPr/>
        </p:nvSpPr>
        <p:spPr>
          <a:xfrm>
            <a:off x="6583680" y="1051560"/>
            <a:ext cx="2103120" cy="274320"/>
          </a:xfrm>
          <a:prstGeom prst="rect">
            <a:avLst/>
          </a:prstGeom>
          <a:noFill/>
          <a:ln/>
        </p:spPr>
        <p:txBody>
          <a:bodyPr wrap="square" lIns="0" tIns="0" rIns="0" bIns="0" rtlCol="0" anchor="ctr"/>
          <a:lstStyle/>
          <a:p>
            <a:pPr indent="0" marL="0">
              <a:buNone/>
            </a:pPr>
            <a:r>
              <a:rPr lang="en-US" sz="1400" b="1" dirty="0">
                <a:solidFill>
                  <a:schemeClr val="tx1"/>
                </a:solidFill>
              </a:rPr>
              <a:t>Comunidad judía (Polanco)</a:t>
            </a:r>
            <a:endParaRPr lang="en-US" sz="1400" dirty="0"/>
          </a:p>
        </p:txBody>
      </p:sp>
      <p:sp>
        <p:nvSpPr>
          <p:cNvPr id="8" name="Descripción"/>
          <p:cNvSpPr txBox="1"/>
          <p:nvPr/>
        </p:nvSpPr>
        <p:spPr>
          <a:xfrm>
            <a:off x="6583680" y="1353312"/>
            <a:ext cx="2103120" cy="1371600"/>
          </a:xfrm>
          <a:prstGeom prst="rect">
            <a:avLst/>
          </a:prstGeom>
          <a:noFill/>
          <a:ln/>
        </p:spPr>
        <p:txBody>
          <a:bodyPr wrap="square" lIns="0" tIns="0" rIns="0" bIns="0" rtlCol="0" anchor="t"/>
          <a:lstStyle/>
          <a:p>
            <a:pPr indent="0" marL="0">
              <a:buNone/>
            </a:pPr>
            <a:r>
              <a:rPr lang="en-US" sz="1150" dirty="0">
                <a:solidFill>
                  <a:schemeClr val="tx2"/>
                </a:solidFill>
              </a:rPr>
              <a:t>Sinagogas, escuelas y comercios kosher. Conserva sus tradiciones y a la vez participa en la vida de la ciudad. En la foto: la primera sinagoga, en el Centro.</a:t>
            </a:r>
            <a:endParaRPr lang="en-US" sz="1150" dirty="0"/>
          </a:p>
        </p:txBody>
      </p:sp>
      <p:pic>
        <p:nvPicPr>
          <p:cNvPr id="9" name="Foto Mercado de Sonora" descr="Mercado de Sonora">    </p:cNvPr>
          <p:cNvPicPr>
            <a:picLocks noChangeAspect="1"/>
          </p:cNvPicPr>
          <p:nvPr/>
        </p:nvPicPr>
        <p:blipFill>
          <a:blip r:embed="rId3"/>
          <a:stretch>
            <a:fillRect/>
          </a:stretch>
        </p:blipFill>
        <p:spPr>
          <a:xfrm>
            <a:off x="457200" y="2971800"/>
            <a:ext cx="1783080" cy="1234440"/>
          </a:xfrm>
          <a:prstGeom prst="rect">
            <a:avLst/>
          </a:prstGeom>
        </p:spPr>
      </p:pic>
      <p:sp>
        <p:nvSpPr>
          <p:cNvPr id="10" name="Lugar"/>
          <p:cNvSpPr txBox="1"/>
          <p:nvPr/>
        </p:nvSpPr>
        <p:spPr>
          <a:xfrm>
            <a:off x="2377440" y="2971800"/>
            <a:ext cx="2103120" cy="274320"/>
          </a:xfrm>
          <a:prstGeom prst="rect">
            <a:avLst/>
          </a:prstGeom>
          <a:noFill/>
          <a:ln/>
        </p:spPr>
        <p:txBody>
          <a:bodyPr wrap="square" lIns="0" tIns="0" rIns="0" bIns="0" rtlCol="0" anchor="ctr"/>
          <a:lstStyle/>
          <a:p>
            <a:pPr indent="0" marL="0">
              <a:buNone/>
            </a:pPr>
            <a:r>
              <a:rPr lang="en-US" sz="1400" b="1" dirty="0">
                <a:solidFill>
                  <a:schemeClr val="tx1"/>
                </a:solidFill>
              </a:rPr>
              <a:t>Mercado de Sonora</a:t>
            </a:r>
            <a:endParaRPr lang="en-US" sz="1400" dirty="0"/>
          </a:p>
        </p:txBody>
      </p:sp>
      <p:sp>
        <p:nvSpPr>
          <p:cNvPr id="11" name="Descripción"/>
          <p:cNvSpPr txBox="1"/>
          <p:nvPr/>
        </p:nvSpPr>
        <p:spPr>
          <a:xfrm>
            <a:off x="2377440" y="3273552"/>
            <a:ext cx="2103120" cy="1371600"/>
          </a:xfrm>
          <a:prstGeom prst="rect">
            <a:avLst/>
          </a:prstGeom>
          <a:noFill/>
          <a:ln/>
        </p:spPr>
        <p:txBody>
          <a:bodyPr wrap="square" lIns="0" tIns="0" rIns="0" bIns="0" rtlCol="0" anchor="t"/>
          <a:lstStyle/>
          <a:p>
            <a:pPr indent="0" marL="0">
              <a:buNone/>
            </a:pPr>
            <a:r>
              <a:rPr lang="en-US" sz="1150" dirty="0">
                <a:solidFill>
                  <a:schemeClr val="tx2"/>
                </a:solidFill>
              </a:rPr>
              <a:t>Hierbas medicinales, santos católicos, santería caribeña y Santa Muerte en el mismo pasillo. Las noticias sobre venta ilegal de animales muestran sus contradicciones.</a:t>
            </a:r>
            <a:endParaRPr lang="en-US" sz="1150" dirty="0"/>
          </a:p>
        </p:txBody>
      </p:sp>
      <p:pic>
        <p:nvPicPr>
          <p:cNvPr id="12" name="Foto Centro Histórico" descr="Centro Histórico">    </p:cNvPr>
          <p:cNvPicPr>
            <a:picLocks noChangeAspect="1"/>
          </p:cNvPicPr>
          <p:nvPr/>
        </p:nvPicPr>
        <p:blipFill>
          <a:blip r:embed="rId4"/>
          <a:stretch>
            <a:fillRect/>
          </a:stretch>
        </p:blipFill>
        <p:spPr>
          <a:xfrm>
            <a:off x="4663440" y="2971800"/>
            <a:ext cx="1783080" cy="1234440"/>
          </a:xfrm>
          <a:prstGeom prst="rect">
            <a:avLst/>
          </a:prstGeom>
        </p:spPr>
      </p:pic>
      <p:sp>
        <p:nvSpPr>
          <p:cNvPr id="13" name="Lugar"/>
          <p:cNvSpPr txBox="1"/>
          <p:nvPr/>
        </p:nvSpPr>
        <p:spPr>
          <a:xfrm>
            <a:off x="6583680" y="2971800"/>
            <a:ext cx="2103120" cy="274320"/>
          </a:xfrm>
          <a:prstGeom prst="rect">
            <a:avLst/>
          </a:prstGeom>
          <a:noFill/>
          <a:ln/>
        </p:spPr>
        <p:txBody>
          <a:bodyPr wrap="square" lIns="0" tIns="0" rIns="0" bIns="0" rtlCol="0" anchor="ctr"/>
          <a:lstStyle/>
          <a:p>
            <a:pPr indent="0" marL="0">
              <a:buNone/>
            </a:pPr>
            <a:r>
              <a:rPr lang="en-US" sz="1400" b="1" dirty="0">
                <a:solidFill>
                  <a:schemeClr val="tx1"/>
                </a:solidFill>
              </a:rPr>
              <a:t>Centro Histórico</a:t>
            </a:r>
            <a:endParaRPr lang="en-US" sz="1400" dirty="0"/>
          </a:p>
        </p:txBody>
      </p:sp>
      <p:sp>
        <p:nvSpPr>
          <p:cNvPr id="14" name="Descripción"/>
          <p:cNvSpPr txBox="1"/>
          <p:nvPr/>
        </p:nvSpPr>
        <p:spPr>
          <a:xfrm>
            <a:off x="6583680" y="3273552"/>
            <a:ext cx="2103120" cy="1371600"/>
          </a:xfrm>
          <a:prstGeom prst="rect">
            <a:avLst/>
          </a:prstGeom>
          <a:noFill/>
          <a:ln/>
        </p:spPr>
        <p:txBody>
          <a:bodyPr wrap="square" lIns="0" tIns="0" rIns="0" bIns="0" rtlCol="0" anchor="t"/>
          <a:lstStyle/>
          <a:p>
            <a:pPr indent="0" marL="0">
              <a:buNone/>
            </a:pPr>
            <a:r>
              <a:rPr lang="en-US" sz="1150" dirty="0">
                <a:solidFill>
                  <a:schemeClr val="tx2"/>
                </a:solidFill>
              </a:rPr>
              <a:t>Danzantes concheros frente a la Catedral, construida junto a las ruinas del Templo Mayor. Lo prehispánico, lo colonial y lo moderno en una plaza.</a:t>
            </a:r>
            <a:endParaRPr lang="en-US" sz="115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¿México es multi, pluri o intercultural?</a:t>
            </a:r>
            <a:endParaRPr lang="en-US" sz="3000" dirty="0"/>
          </a:p>
        </p:txBody>
      </p:sp>
      <p:sp>
        <p:nvSpPr>
          <p:cNvPr id="3" name="Tesis"/>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600" i="1" dirty="0">
                <a:solidFill>
                  <a:schemeClr val="accent3"/>
                </a:solidFill>
              </a:rPr>
              <a:t>Mi respuesta: es los tres a la vez, según dónde y cómo se mire.</a:t>
            </a:r>
            <a:endParaRPr lang="en-US" sz="1600" dirty="0"/>
          </a:p>
        </p:txBody>
      </p:sp>
      <p:sp>
        <p:nvSpPr>
          <p:cNvPr id="4" name="Tarjeta Multicultural en la calle"/>
          <p:cNvSpPr/>
          <p:nvPr/>
        </p:nvSpPr>
        <p:spPr>
          <a:xfrm>
            <a:off x="457200" y="1554480"/>
            <a:ext cx="2560320" cy="3063240"/>
          </a:xfrm>
          <a:prstGeom prst="roundRect">
            <a:avLst>
              <a:gd name="adj" fmla="val 4286"/>
            </a:avLst>
          </a:prstGeom>
          <a:solidFill>
            <a:schemeClr val="bg2"/>
          </a:solidFill>
          <a:ln/>
        </p:spPr>
      </p:sp>
      <p:sp>
        <p:nvSpPr>
          <p:cNvPr id="5" name="Número"/>
          <p:cNvSpPr txBox="1"/>
          <p:nvPr/>
        </p:nvSpPr>
        <p:spPr>
          <a:xfrm>
            <a:off x="685800" y="178308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Encabezado"/>
          <p:cNvSpPr txBox="1"/>
          <p:nvPr/>
        </p:nvSpPr>
        <p:spPr>
          <a:xfrm>
            <a:off x="685800" y="2377440"/>
            <a:ext cx="2148840" cy="594360"/>
          </a:xfrm>
          <a:prstGeom prst="rect">
            <a:avLst/>
          </a:prstGeom>
          <a:noFill/>
          <a:ln/>
        </p:spPr>
        <p:txBody>
          <a:bodyPr wrap="square" lIns="0" tIns="0" rIns="0" bIns="0" rtlCol="0" anchor="t"/>
          <a:lstStyle/>
          <a:p>
            <a:pPr indent="0" marL="0">
              <a:buNone/>
            </a:pPr>
            <a:r>
              <a:rPr lang="en-US" sz="1500" b="1" dirty="0">
                <a:solidFill>
                  <a:schemeClr val="accent1"/>
                </a:solidFill>
              </a:rPr>
              <a:t>Multicultural en la calle</a:t>
            </a:r>
            <a:endParaRPr lang="en-US" sz="1500" dirty="0"/>
          </a:p>
        </p:txBody>
      </p:sp>
      <p:sp>
        <p:nvSpPr>
          <p:cNvPr id="7" name="Texto"/>
          <p:cNvSpPr txBox="1"/>
          <p:nvPr/>
        </p:nvSpPr>
        <p:spPr>
          <a:xfrm>
            <a:off x="685800" y="2971800"/>
            <a:ext cx="2148840" cy="1508760"/>
          </a:xfrm>
          <a:prstGeom prst="rect">
            <a:avLst/>
          </a:prstGeom>
          <a:noFill/>
          <a:ln/>
        </p:spPr>
        <p:txBody>
          <a:bodyPr wrap="square" lIns="0" tIns="0" rIns="0" bIns="0" rtlCol="0" anchor="t"/>
          <a:lstStyle/>
          <a:p>
            <a:pPr indent="0" marL="0">
              <a:buNone/>
            </a:pPr>
            <a:r>
              <a:rPr lang="en-US" sz="1250" dirty="0">
                <a:solidFill>
                  <a:schemeClr val="tx2"/>
                </a:solidFill>
              </a:rPr>
              <a:t>Barrios que conviven sin mezclarse del todo: Polanco y el Barrio Chino están a pocos kilómetros, pero viven realidades muy distintas.</a:t>
            </a:r>
            <a:endParaRPr lang="en-US" sz="1250" dirty="0"/>
          </a:p>
        </p:txBody>
      </p:sp>
      <p:sp>
        <p:nvSpPr>
          <p:cNvPr id="8" name="Tarjeta Pluricultural en la ley"/>
          <p:cNvSpPr/>
          <p:nvPr/>
        </p:nvSpPr>
        <p:spPr>
          <a:xfrm>
            <a:off x="3291840" y="1554480"/>
            <a:ext cx="2560320" cy="3063240"/>
          </a:xfrm>
          <a:prstGeom prst="roundRect">
            <a:avLst>
              <a:gd name="adj" fmla="val 4286"/>
            </a:avLst>
          </a:prstGeom>
          <a:solidFill>
            <a:schemeClr val="bg2"/>
          </a:solidFill>
          <a:ln/>
        </p:spPr>
      </p:sp>
      <p:sp>
        <p:nvSpPr>
          <p:cNvPr id="9" name="Número"/>
          <p:cNvSpPr txBox="1"/>
          <p:nvPr/>
        </p:nvSpPr>
        <p:spPr>
          <a:xfrm>
            <a:off x="3520440" y="178308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Encabezado"/>
          <p:cNvSpPr txBox="1"/>
          <p:nvPr/>
        </p:nvSpPr>
        <p:spPr>
          <a:xfrm>
            <a:off x="3520440" y="2377440"/>
            <a:ext cx="2148840" cy="594360"/>
          </a:xfrm>
          <a:prstGeom prst="rect">
            <a:avLst/>
          </a:prstGeom>
          <a:noFill/>
          <a:ln/>
        </p:spPr>
        <p:txBody>
          <a:bodyPr wrap="square" lIns="0" tIns="0" rIns="0" bIns="0" rtlCol="0" anchor="t"/>
          <a:lstStyle/>
          <a:p>
            <a:pPr indent="0" marL="0">
              <a:buNone/>
            </a:pPr>
            <a:r>
              <a:rPr lang="en-US" sz="1500" b="1" dirty="0">
                <a:solidFill>
                  <a:schemeClr val="accent2"/>
                </a:solidFill>
              </a:rPr>
              <a:t>Pluricultural en la ley</a:t>
            </a:r>
            <a:endParaRPr lang="en-US" sz="1500" dirty="0"/>
          </a:p>
        </p:txBody>
      </p:sp>
      <p:sp>
        <p:nvSpPr>
          <p:cNvPr id="11" name="Texto"/>
          <p:cNvSpPr txBox="1"/>
          <p:nvPr/>
        </p:nvSpPr>
        <p:spPr>
          <a:xfrm>
            <a:off x="3520440" y="2971800"/>
            <a:ext cx="2148840" cy="1508760"/>
          </a:xfrm>
          <a:prstGeom prst="rect">
            <a:avLst/>
          </a:prstGeom>
          <a:noFill/>
          <a:ln/>
        </p:spPr>
        <p:txBody>
          <a:bodyPr wrap="square" lIns="0" tIns="0" rIns="0" bIns="0" rtlCol="0" anchor="t"/>
          <a:lstStyle/>
          <a:p>
            <a:pPr indent="0" marL="0">
              <a:buNone/>
            </a:pPr>
            <a:r>
              <a:rPr lang="en-US" sz="1250" dirty="0">
                <a:solidFill>
                  <a:schemeClr val="tx2"/>
                </a:solidFill>
              </a:rPr>
              <a:t>El artículo 2 de la Constitución reconoce una nación «pluricultural sustentada en sus pueblos indígenas». Hay 68 lenguas indígenas y, desde 2019, se reconoce a los afromexicanos.</a:t>
            </a:r>
            <a:endParaRPr lang="en-US" sz="1250" dirty="0"/>
          </a:p>
        </p:txBody>
      </p:sp>
      <p:sp>
        <p:nvSpPr>
          <p:cNvPr id="12" name="Tarjeta Intercultural como meta"/>
          <p:cNvSpPr/>
          <p:nvPr/>
        </p:nvSpPr>
        <p:spPr>
          <a:xfrm>
            <a:off x="6126480" y="1554480"/>
            <a:ext cx="2560320" cy="3063240"/>
          </a:xfrm>
          <a:prstGeom prst="roundRect">
            <a:avLst>
              <a:gd name="adj" fmla="val 4286"/>
            </a:avLst>
          </a:prstGeom>
          <a:solidFill>
            <a:schemeClr val="bg2"/>
          </a:solidFill>
          <a:ln/>
        </p:spPr>
      </p:sp>
      <p:sp>
        <p:nvSpPr>
          <p:cNvPr id="13" name="Número"/>
          <p:cNvSpPr txBox="1"/>
          <p:nvPr/>
        </p:nvSpPr>
        <p:spPr>
          <a:xfrm>
            <a:off x="6355080" y="1783080"/>
            <a:ext cx="457200" cy="45720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Encabezado"/>
          <p:cNvSpPr txBox="1"/>
          <p:nvPr/>
        </p:nvSpPr>
        <p:spPr>
          <a:xfrm>
            <a:off x="6355080" y="2377440"/>
            <a:ext cx="2148840" cy="594360"/>
          </a:xfrm>
          <a:prstGeom prst="rect">
            <a:avLst/>
          </a:prstGeom>
          <a:noFill/>
          <a:ln/>
        </p:spPr>
        <p:txBody>
          <a:bodyPr wrap="square" lIns="0" tIns="0" rIns="0" bIns="0" rtlCol="0" anchor="t"/>
          <a:lstStyle/>
          <a:p>
            <a:pPr indent="0" marL="0">
              <a:buNone/>
            </a:pPr>
            <a:r>
              <a:rPr lang="en-US" sz="1500" b="1" dirty="0">
                <a:solidFill>
                  <a:schemeClr val="accent3"/>
                </a:solidFill>
              </a:rPr>
              <a:t>Intercultural como meta</a:t>
            </a:r>
            <a:endParaRPr lang="en-US" sz="1500" dirty="0"/>
          </a:p>
        </p:txBody>
      </p:sp>
      <p:sp>
        <p:nvSpPr>
          <p:cNvPr id="15" name="Texto"/>
          <p:cNvSpPr txBox="1"/>
          <p:nvPr/>
        </p:nvSpPr>
        <p:spPr>
          <a:xfrm>
            <a:off x="6355080" y="2971800"/>
            <a:ext cx="2148840" cy="1508760"/>
          </a:xfrm>
          <a:prstGeom prst="rect">
            <a:avLst/>
          </a:prstGeom>
          <a:noFill/>
          <a:ln/>
        </p:spPr>
        <p:txBody>
          <a:bodyPr wrap="square" lIns="0" tIns="0" rIns="0" bIns="0" rtlCol="0" anchor="t"/>
          <a:lstStyle/>
          <a:p>
            <a:pPr indent="0" marL="0">
              <a:buNone/>
            </a:pPr>
            <a:r>
              <a:rPr lang="en-US" sz="1250" dirty="0">
                <a:solidFill>
                  <a:schemeClr val="tx2"/>
                </a:solidFill>
              </a:rPr>
              <a:t>Hay encuentros reales (la comida, las fiestas, el Mercado de Sonora), pero aún con desigualdad y racismo. El diálogo entre iguales sigue en construcción.</a:t>
            </a:r>
            <a:endParaRPr lang="en-US" sz="125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Foto" descr="Mujer rarámuri">    </p:cNvPr>
          <p:cNvPicPr>
            <a:picLocks noChangeAspect="1"/>
          </p:cNvPicPr>
          <p:nvPr/>
        </p:nvPicPr>
        <p:blipFill>
          <a:blip r:embed="rId1"/>
          <a:stretch>
            <a:fillRect/>
          </a:stretch>
        </p:blipFill>
        <p:spPr>
          <a:xfrm>
            <a:off x="0" y="0"/>
            <a:ext cx="4023360" cy="5143500"/>
          </a:xfrm>
          <a:prstGeom prst="rect">
            <a:avLst/>
          </a:prstGeom>
        </p:spPr>
      </p:pic>
      <p:sp>
        <p:nvSpPr>
          <p:cNvPr id="3" name="Fondo pie de foto"/>
          <p:cNvSpPr/>
          <p:nvPr/>
        </p:nvSpPr>
        <p:spPr>
          <a:xfrm>
            <a:off x="0" y="4850892"/>
            <a:ext cx="4023360" cy="292608"/>
          </a:xfrm>
          <a:prstGeom prst="rect">
            <a:avLst/>
          </a:prstGeom>
          <a:solidFill>
            <a:schemeClr val="tx1">
              <a:alpha val="65000"/>
            </a:schemeClr>
          </a:solidFill>
          <a:ln/>
        </p:spPr>
      </p:sp>
      <p:sp>
        <p:nvSpPr>
          <p:cNvPr id="4" name="Pie de foto"/>
          <p:cNvSpPr txBox="1"/>
          <p:nvPr/>
        </p:nvSpPr>
        <p:spPr>
          <a:xfrm>
            <a:off x="109728" y="4850892"/>
            <a:ext cx="3803904" cy="292608"/>
          </a:xfrm>
          <a:prstGeom prst="rect">
            <a:avLst/>
          </a:prstGeom>
          <a:noFill/>
          <a:ln/>
        </p:spPr>
        <p:txBody>
          <a:bodyPr wrap="square" lIns="0" tIns="0" rIns="0" bIns="0" rtlCol="0" anchor="ctr"/>
          <a:lstStyle/>
          <a:p>
            <a:pPr indent="0" marL="0">
              <a:buNone/>
            </a:pPr>
            <a:r>
              <a:rPr lang="en-US" sz="900" dirty="0">
                <a:solidFill>
                  <a:schemeClr val="bg1"/>
                </a:solidFill>
              </a:rPr>
              <a:t>Mujer rarámuri</a:t>
            </a:r>
            <a:endParaRPr lang="en-US" sz="900" dirty="0"/>
          </a:p>
        </p:txBody>
      </p:sp>
      <p:sp>
        <p:nvSpPr>
          <p:cNvPr id="5" name="Etiqueta"/>
          <p:cNvSpPr txBox="1"/>
          <p:nvPr/>
        </p:nvSpPr>
        <p:spPr>
          <a:xfrm>
            <a:off x="4480560" y="347472"/>
            <a:ext cx="201168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100" kern="0" dirty="0">
                <a:solidFill>
                  <a:schemeClr val="bg1"/>
                </a:solidFill>
              </a:rPr>
              <a:t>REFLEXIÓN PERSONAL</a:t>
            </a:r>
            <a:endParaRPr lang="en-US" sz="1000" dirty="0"/>
          </a:p>
        </p:txBody>
      </p:sp>
      <p:sp>
        <p:nvSpPr>
          <p:cNvPr id="6" name="Text 0"/>
          <p:cNvSpPr/>
          <p:nvPr>
            <p:ph idx="100" type="title" hasCustomPrompt="1"/>
          </p:nvPr>
        </p:nvSpPr>
        <p:spPr>
          <a:xfrm>
            <a:off x="4480560" y="777240"/>
            <a:ext cx="4251960" cy="82296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¿Existe la «mexicaneidad»?</a:t>
            </a:r>
            <a:endParaRPr lang="en-US" sz="2400" dirty="0"/>
          </a:p>
        </p:txBody>
      </p:sp>
      <p:sp>
        <p:nvSpPr>
          <p:cNvPr id="7" name="Reflexión"/>
          <p:cNvSpPr txBox="1"/>
          <p:nvPr/>
        </p:nvSpPr>
        <p:spPr>
          <a:xfrm>
            <a:off x="4480560" y="1554480"/>
            <a:ext cx="4251960" cy="2834640"/>
          </a:xfrm>
          <a:prstGeom prst="rect">
            <a:avLst/>
          </a:prstGeom>
          <a:noFill/>
          <a:ln/>
        </p:spPr>
        <p:txBody>
          <a:bodyPr wrap="square" lIns="0" tIns="0" rIns="0" bIns="0" rtlCol="0" anchor="t"/>
          <a:lstStyle/>
          <a:p>
            <a:pPr indent="0" marL="0">
              <a:buNone/>
            </a:pPr>
            <a:r>
              <a:rPr lang="en-US" sz="1350" b="1" dirty="0">
                <a:solidFill>
                  <a:schemeClr val="accent3"/>
                </a:solidFill>
              </a:rPr>
              <a:t>Sí, pero en plural. </a:t>
            </a:r>
            <a:pPr indent="0" marL="0">
              <a:buNone/>
            </a:pPr>
            <a:r>
              <a:rPr lang="en-US" sz="1350" dirty="0">
                <a:solidFill>
                  <a:schemeClr val="tx2"/>
                </a:solidFill>
              </a:rPr>
              <a:t>Un extranjero encontraría cosas compartidas: la comida de maíz y chile, la Virgen de Guadalupe, el gusto por la fiesta, un español lleno de palabras del náhuatl. Pero también notaría que una mujer rarámuri, una familia judía de Polanco y un trabajador de un hotel en Cancún viven «lo mexicano» de formas muy distintas.</a:t>
            </a:r>
            <a:endParaRPr lang="en-US" sz="1350" dirty="0"/>
          </a:p>
          <a:p>
            <a:pPr indent="0" marL="0">
              <a:buNone/>
            </a:pPr>
            <a:r>
              <a:rPr lang="en-US" sz="600" dirty="0">
                <a:solidFill>
                  <a:schemeClr val="tx2"/>
                </a:solidFill>
              </a:rPr>
              <a:t> </a:t>
            </a:r>
            <a:endParaRPr lang="en-US" sz="1350" dirty="0"/>
          </a:p>
          <a:p>
            <a:pPr indent="0" marL="0">
              <a:buNone/>
            </a:pPr>
            <a:r>
              <a:rPr lang="en-US" sz="1350" dirty="0">
                <a:solidFill>
                  <a:schemeClr val="tx2"/>
                </a:solidFill>
              </a:rPr>
              <a:t>Más que una identidad única, la mexicaneidad es un tejido: hilos diferentes que forman una misma tela. El reto, como advirtió Guillermo Bonfil Batalla en México profundo, es que el país reconozca a los pueblos que lo sostienen y no solo los use como decoración.</a:t>
            </a:r>
            <a:endParaRPr lang="en-US" sz="1350" dirty="0"/>
          </a:p>
        </p:txBody>
      </p:sp>
      <p:sp>
        <p:nvSpPr>
          <p:cNvPr id="8" name="Cierre"/>
          <p:cNvSpPr txBox="1"/>
          <p:nvPr/>
        </p:nvSpPr>
        <p:spPr>
          <a:xfrm>
            <a:off x="4480560" y="4343400"/>
            <a:ext cx="4251960" cy="548640"/>
          </a:xfrm>
          <a:prstGeom prst="rect">
            <a:avLst/>
          </a:prstGeom>
          <a:noFill/>
          <a:ln/>
        </p:spPr>
        <p:txBody>
          <a:bodyPr wrap="square" lIns="0" tIns="0" rIns="0" bIns="0" rtlCol="0" anchor="t"/>
          <a:lstStyle/>
          <a:p>
            <a:pPr indent="0" marL="0">
              <a:buNone/>
            </a:pPr>
            <a:r>
              <a:rPr lang="en-US" sz="1300" b="1" i="1" dirty="0">
                <a:solidFill>
                  <a:schemeClr val="tx1"/>
                </a:solidFill>
                <a:latin typeface="Cambria" pitchFamily="34" charset="0"/>
                <a:ea typeface="Cambria" pitchFamily="34" charset="-122"/>
                <a:cs typeface="Cambria" pitchFamily="34" charset="-120"/>
              </a:rPr>
              <a:t>México no es un crisol donde todo se funde, sino un tejido que todavía aprende a dialogar.</a:t>
            </a:r>
            <a:endParaRPr lang="en-US" sz="13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Fuentes</a:t>
            </a:r>
            <a:endParaRPr lang="en-US" sz="3000" dirty="0"/>
          </a:p>
        </p:txBody>
      </p:sp>
      <p:sp>
        <p:nvSpPr>
          <p:cNvPr id="3" name="Referencias"/>
          <p:cNvSpPr txBox="1"/>
          <p:nvPr/>
        </p:nvSpPr>
        <p:spPr>
          <a:xfrm>
            <a:off x="457200" y="1188720"/>
            <a:ext cx="8229600" cy="22860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Bonfil Batalla, G. (1987). México profundo: una civilización negada.</a:t>
            </a:r>
            <a:endParaRPr lang="en-US" sz="1600" dirty="0"/>
          </a:p>
          <a:p>
            <a:pPr marL="342900" indent="-342900">
              <a:spcAft>
                <a:spcPts val="1000"/>
              </a:spcAft>
              <a:buSzPct val="100000"/>
              <a:buChar char="•"/>
            </a:pPr>
            <a:r>
              <a:rPr lang="en-US" sz="1600" dirty="0">
                <a:solidFill>
                  <a:schemeClr val="tx2"/>
                </a:solidFill>
              </a:rPr>
              <a:t>Constitución Política de los Estados Unidos Mexicanos, artículo 2.</a:t>
            </a:r>
            <a:endParaRPr lang="en-US" sz="1600" dirty="0"/>
          </a:p>
          <a:p>
            <a:pPr marL="342900" indent="-342900">
              <a:spcAft>
                <a:spcPts val="1000"/>
              </a:spcAft>
              <a:buSzPct val="100000"/>
              <a:buChar char="•"/>
            </a:pPr>
            <a:r>
              <a:rPr lang="en-US" sz="1600" dirty="0">
                <a:solidFill>
                  <a:schemeClr val="tx2"/>
                </a:solidFill>
              </a:rPr>
              <a:t>Constitución Política del Estado Plurinacional de Bolivia (2009).</a:t>
            </a:r>
            <a:endParaRPr lang="en-US" sz="1600" dirty="0"/>
          </a:p>
          <a:p>
            <a:pPr marL="342900" indent="-342900">
              <a:spcAft>
                <a:spcPts val="1000"/>
              </a:spcAft>
              <a:buSzPct val="100000"/>
              <a:buChar char="•"/>
            </a:pPr>
            <a:r>
              <a:rPr lang="en-US" sz="1600" dirty="0">
                <a:solidFill>
                  <a:schemeClr val="tx2"/>
                </a:solidFill>
              </a:rPr>
              <a:t>Imágenes: Flickr, con licencias Creative Commons.</a:t>
            </a:r>
            <a:endParaRPr lang="en-US" sz="1600" dirty="0"/>
          </a:p>
        </p:txBody>
      </p:sp>
      <p:sp>
        <p:nvSpPr>
          <p:cNvPr id="25" name="Slide Number Placeholder 0"/>
          <p:cNvSpPr>
            <a:spLocks noGrp="1"/>
          </p:cNvSpPr>
          <p:nvPr>
            <p:ph type="sldNum" sz="quarter" idx="4294967295"/>
          </p:nvPr>
        </p:nvSpPr>
        <p:spPr>
          <a:xfrm>
            <a:off x="850392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Culturas">
  <a:themeElements>
    <a:clrScheme name="Culturas">
      <a:dk1>
        <a:srgbClr val="1F1B24"/>
      </a:dk1>
      <a:lt1>
        <a:srgbClr val="FFFFFF"/>
      </a:lt1>
      <a:dk2>
        <a:srgbClr val="3A3440"/>
      </a:dk2>
      <a:lt2>
        <a:srgbClr val="F3F1F4"/>
      </a:lt2>
      <a:accent1>
        <a:srgbClr val="0E7C86"/>
      </a:accent1>
      <a:accent2>
        <a:srgbClr val="C77D05"/>
      </a:accent2>
      <a:accent3>
        <a:srgbClr val="B3245F"/>
      </a:accent3>
      <a:accent4>
        <a:srgbClr val="6B6470"/>
      </a:accent4>
      <a:accent5>
        <a:srgbClr val="2E5E4E"/>
      </a:accent5>
      <a:accent6>
        <a:srgbClr val="7A3E9D"/>
      </a:accent6>
      <a:hlink>
        <a:srgbClr val="0E7C86"/>
      </a:hlink>
      <a:folHlink>
        <a:srgbClr val="7A3E9D"/>
      </a:folHlink>
    </a:clrScheme>
    <a:fontScheme name="Cultur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Multiculturalidad, pluriculturalidad e interculturalidad</dc:title>
  <dc:subject>PptxGenJS Presentation</dc:subject>
  <dc:creator>PptxGenJS</dc:creator>
  <cp:lastModifiedBy>PptxGenJS</cp:lastModifiedBy>
  <cp:revision>1</cp:revision>
  <dcterms:created xsi:type="dcterms:W3CDTF">2026-10-16T05:52:41Z</dcterms:created>
  <dcterms:modified xsi:type="dcterms:W3CDTF">2026-10-16T05:52:41Z</dcterms:modified>
</cp:coreProperties>
</file>